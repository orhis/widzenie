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68" r:id="rId3"/>
    <p:sldId id="269" r:id="rId4"/>
    <p:sldId id="272" r:id="rId5"/>
    <p:sldId id="267" r:id="rId6"/>
    <p:sldId id="270" r:id="rId7"/>
    <p:sldId id="271" r:id="rId8"/>
    <p:sldId id="266" r:id="rId9"/>
    <p:sldId id="273" r:id="rId10"/>
    <p:sldId id="274" r:id="rId11"/>
    <p:sldId id="276" r:id="rId12"/>
    <p:sldId id="275" r:id="rId13"/>
    <p:sldId id="277" r:id="rId14"/>
    <p:sldId id="263" r:id="rId15"/>
    <p:sldId id="278" r:id="rId16"/>
    <p:sldId id="262" r:id="rId17"/>
    <p:sldId id="264" r:id="rId18"/>
  </p:sldIdLst>
  <p:sldSz cx="12192000" cy="6858000"/>
  <p:notesSz cx="6858000" cy="9144000"/>
  <p:defaultTextStyle>
    <a:defPPr rtl="0"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3" autoAdjust="0"/>
    <p:restoredTop sz="67487" autoAdjust="0"/>
  </p:normalViewPr>
  <p:slideViewPr>
    <p:cSldViewPr snapToGrid="0">
      <p:cViewPr varScale="1">
        <p:scale>
          <a:sx n="66" d="100"/>
          <a:sy n="66" d="100"/>
        </p:scale>
        <p:origin x="15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0" d="100"/>
          <a:sy n="80" d="100"/>
        </p:scale>
        <p:origin x="280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>
            <a:extLst>
              <a:ext uri="{FF2B5EF4-FFF2-40B4-BE49-F238E27FC236}">
                <a16:creationId xmlns:a16="http://schemas.microsoft.com/office/drawing/2014/main" id="{CA2E547D-1406-4A6F-8F93-E441204CE6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76667F8A-B889-49B3-AC77-5DDF11A08A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57A77EF-ABC6-4B93-A472-41EA7F9EBD8F}" type="datetime1">
              <a:rPr lang="pl-PL" smtClean="0"/>
              <a:t>07.02.2026</a:t>
            </a:fld>
            <a:endParaRPr lang="pl-PL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567AFD4F-C0E7-421C-AF77-6F9CC963C9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1074AB9F-6726-4FB1-8769-82E23336CE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D529299-61FF-4B93-ADA6-2FD5975D62F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16270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5B91B06-53EE-45B7-965E-F3AE34C08448}" type="datetime1">
              <a:rPr lang="pl-PL" noProof="0" smtClean="0"/>
              <a:t>07.02.2026</a:t>
            </a:fld>
            <a:endParaRPr lang="pl-PL" noProof="0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l-PL" noProof="0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C849E9A-41F7-4779-A581-48A7C374A227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15551888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849E9A-41F7-4779-A581-48A7C374A227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346444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C849E9A-41F7-4779-A581-48A7C374A227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92102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C849E9A-41F7-4779-A581-48A7C374A227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710006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50C95-1171-11B9-326B-A5834E655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>
            <a:extLst>
              <a:ext uri="{FF2B5EF4-FFF2-40B4-BE49-F238E27FC236}">
                <a16:creationId xmlns:a16="http://schemas.microsoft.com/office/drawing/2014/main" id="{A8A7BCC8-CD47-D4CA-E89D-0F324023F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>
            <a:extLst>
              <a:ext uri="{FF2B5EF4-FFF2-40B4-BE49-F238E27FC236}">
                <a16:creationId xmlns:a16="http://schemas.microsoft.com/office/drawing/2014/main" id="{CCF24A58-17DD-22F0-CDC8-3CE83D6BDD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EA0CACF9-108C-B28B-0F91-CA9C58F55D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C849E9A-41F7-4779-A581-48A7C374A227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673271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indent="0" rtl="0">
              <a:buFont typeface="Arial" panose="020B0604020202020204" pitchFamily="34" charset="0"/>
              <a:buNone/>
            </a:pPr>
            <a:endParaRPr lang="pl-PL" dirty="0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C849E9A-41F7-4779-A581-48A7C374A227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243109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C849E9A-41F7-4779-A581-48A7C374A227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98123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E4632-FCC2-FC3E-3754-755384E6C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>
            <a:extLst>
              <a:ext uri="{FF2B5EF4-FFF2-40B4-BE49-F238E27FC236}">
                <a16:creationId xmlns:a16="http://schemas.microsoft.com/office/drawing/2014/main" id="{AFAE20DB-C5A2-CC41-BA90-29FB52B2D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>
            <a:extLst>
              <a:ext uri="{FF2B5EF4-FFF2-40B4-BE49-F238E27FC236}">
                <a16:creationId xmlns:a16="http://schemas.microsoft.com/office/drawing/2014/main" id="{9CE0D632-CD06-1092-D19E-4906D13AE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indent="0" rtl="0">
              <a:buFont typeface="Arial" panose="020B0604020202020204" pitchFamily="34" charset="0"/>
              <a:buNone/>
            </a:pPr>
            <a:endParaRPr lang="pl-PL" dirty="0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A01697A4-6C7E-3748-D02A-9F41801529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C849E9A-41F7-4779-A581-48A7C374A227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521545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C849E9A-41F7-4779-A581-48A7C374A227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959614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28B90-1D7D-D784-C8FA-A01EF2BD7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>
            <a:extLst>
              <a:ext uri="{FF2B5EF4-FFF2-40B4-BE49-F238E27FC236}">
                <a16:creationId xmlns:a16="http://schemas.microsoft.com/office/drawing/2014/main" id="{BF66B48B-A319-A850-BC03-C443B1C3B6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>
            <a:extLst>
              <a:ext uri="{FF2B5EF4-FFF2-40B4-BE49-F238E27FC236}">
                <a16:creationId xmlns:a16="http://schemas.microsoft.com/office/drawing/2014/main" id="{61761C87-7BA0-881A-6415-43945FC4A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4C6FC6CE-D45D-9386-BCDA-63EA8D04A9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C849E9A-41F7-4779-A581-48A7C374A227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153611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D1FCA-7531-4C62-C3A1-812C653C4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>
            <a:extLst>
              <a:ext uri="{FF2B5EF4-FFF2-40B4-BE49-F238E27FC236}">
                <a16:creationId xmlns:a16="http://schemas.microsoft.com/office/drawing/2014/main" id="{9811B239-E01B-5305-AB75-0F993BA0C8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>
            <a:extLst>
              <a:ext uri="{FF2B5EF4-FFF2-40B4-BE49-F238E27FC236}">
                <a16:creationId xmlns:a16="http://schemas.microsoft.com/office/drawing/2014/main" id="{C0C199AE-E820-166C-A0D7-475D22E44B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650C1BF5-4D3B-BBDC-9E06-4CCF74AC53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C849E9A-41F7-4779-A581-48A7C374A227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381342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F0D2B-9F82-EB50-19D4-ADB09ED17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>
            <a:extLst>
              <a:ext uri="{FF2B5EF4-FFF2-40B4-BE49-F238E27FC236}">
                <a16:creationId xmlns:a16="http://schemas.microsoft.com/office/drawing/2014/main" id="{7EC9610C-A6F1-0CA7-B905-79B35F50D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>
            <a:extLst>
              <a:ext uri="{FF2B5EF4-FFF2-40B4-BE49-F238E27FC236}">
                <a16:creationId xmlns:a16="http://schemas.microsoft.com/office/drawing/2014/main" id="{5B10A299-7641-D2FD-2FE0-1B88931E7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CEAB15A3-9B44-FD30-0D7A-BC734D09A5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C849E9A-41F7-4779-A581-48A7C374A227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387398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0B675-460F-8AD4-5F4D-5156171DF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>
            <a:extLst>
              <a:ext uri="{FF2B5EF4-FFF2-40B4-BE49-F238E27FC236}">
                <a16:creationId xmlns:a16="http://schemas.microsoft.com/office/drawing/2014/main" id="{37E21FE0-73D4-F05F-92A0-85B39AD84E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>
            <a:extLst>
              <a:ext uri="{FF2B5EF4-FFF2-40B4-BE49-F238E27FC236}">
                <a16:creationId xmlns:a16="http://schemas.microsoft.com/office/drawing/2014/main" id="{6FDF8BC1-1C36-F041-F3D4-A00FFF307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E4303002-55DC-0EBB-3F2D-E573CF52F4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C849E9A-41F7-4779-A581-48A7C374A227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558519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D13CF-447D-4D16-A59F-12D94FC05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>
            <a:extLst>
              <a:ext uri="{FF2B5EF4-FFF2-40B4-BE49-F238E27FC236}">
                <a16:creationId xmlns:a16="http://schemas.microsoft.com/office/drawing/2014/main" id="{0B4B3CBD-B175-5501-02EA-E1BD9250F7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>
            <a:extLst>
              <a:ext uri="{FF2B5EF4-FFF2-40B4-BE49-F238E27FC236}">
                <a16:creationId xmlns:a16="http://schemas.microsoft.com/office/drawing/2014/main" id="{F8B9193F-EFAD-83C0-6A67-C7326BBCF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D5789853-A527-144C-8D94-8A0FA1670F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C849E9A-41F7-4779-A581-48A7C374A227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004172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C849E9A-41F7-4779-A581-48A7C374A227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253411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F4EE1-FCDE-170F-0F05-2701D225B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>
            <a:extLst>
              <a:ext uri="{FF2B5EF4-FFF2-40B4-BE49-F238E27FC236}">
                <a16:creationId xmlns:a16="http://schemas.microsoft.com/office/drawing/2014/main" id="{64B2B31B-71D1-56BE-4B6B-88261E2DB0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>
            <a:extLst>
              <a:ext uri="{FF2B5EF4-FFF2-40B4-BE49-F238E27FC236}">
                <a16:creationId xmlns:a16="http://schemas.microsoft.com/office/drawing/2014/main" id="{F2CA3EBC-4D9D-B64F-E3BB-FF19D9A23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42B80A72-C5DF-1693-4722-77C9484EA6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C849E9A-41F7-4779-A581-48A7C374A227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885166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C849E9A-41F7-4779-A581-48A7C374A227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358056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C849E9A-41F7-4779-A581-48A7C374A227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44202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E9718B7-7F68-4CC9-8291-332587FA31D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181D6BB-0446-49E8-8677-EADF274E95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l-PL" noProof="0"/>
              <a:t>Kliknij, aby edytować styl wzorca podtytułu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535AEE24-534A-40F1-99E4-00B7D5FD9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D51977-AFD3-4906-A464-3356BE86713F}" type="datetime1">
              <a:rPr lang="pl-PL" noProof="0" smtClean="0"/>
              <a:t>07.02.2026</a:t>
            </a:fld>
            <a:endParaRPr lang="pl-PL" noProof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CD594011-48FF-493D-8286-F62D34552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4880EFCD-7E72-4882-86DC-2F371D7D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152813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86334F3-0709-471B-A734-C4B404F55B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AF795016-AF78-4708-9C5F-21110C197B03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2AAEA2D1-B124-4454-AFDC-EA60A14BA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A08976F-5103-4B60-9698-B3CBCEAA5A20}" type="datetime1">
              <a:rPr lang="pl-PL" noProof="0" smtClean="0"/>
              <a:t>07.02.2026</a:t>
            </a:fld>
            <a:endParaRPr lang="pl-PL" noProof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B4F58000-F9D7-4A53-A6C5-E5E815422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70D22AAD-0D08-4F47-8D5A-EFE29017E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213046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9036159-1280-4EE9-96D3-A56BD58266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3BA27A78-1874-488A-B215-7D763D33818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084BB3D1-3138-4B69-BF5D-4B1A21345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005B712-7E97-4A7A-B203-AC060884987C}" type="datetime1">
              <a:rPr lang="pl-PL" noProof="0" smtClean="0"/>
              <a:t>07.02.2026</a:t>
            </a:fld>
            <a:endParaRPr lang="pl-PL" noProof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0EFF90C5-31F4-4A22-AC00-3FB5ED291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951F787E-B946-4091-ABC6-F9DB06BBE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089272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60CAA11-CC97-44E5-AE4D-808FD741A0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683AB6CB-9460-4BCA-86C5-5F26357AB80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69FAB0F6-401D-4BAF-A300-65AD684DF96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C4561BBA-B185-4B45-B152-3D320E15F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8B32A2-2AD1-4C93-BDB7-82DB29E745EB}" type="datetime1">
              <a:rPr lang="pl-PL" noProof="0" smtClean="0"/>
              <a:t>07.02.2026</a:t>
            </a:fld>
            <a:endParaRPr lang="pl-PL" noProof="0"/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D61CD760-96AC-4821-A56B-0B805F2F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2F750665-D5B5-4D0B-B2F0-CB6B027CD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138061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1EA47C3-C498-415A-A057-E19BCEB5F2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7BF6677F-2712-4810-A3AA-56FA75386D2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F871B54A-6775-4978-8E19-32694C9B5E3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DDBA1303-B245-476D-BD02-A4E4A359F6E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E8E898F-5B79-46F1-89C1-F827997CC48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6B417A4D-2EC9-4294-BFF4-EAE22EE10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18F07CE-77C5-4E62-B332-06F09E55C5E5}" type="datetime1">
              <a:rPr lang="pl-PL" noProof="0" smtClean="0"/>
              <a:t>07.02.2026</a:t>
            </a:fld>
            <a:endParaRPr lang="pl-PL" noProof="0"/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6150E317-3602-42A1-BB7F-0184072E8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50CE2C97-E26C-4A8B-93A0-B01E2C7F4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258698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19F68FC-5755-447A-8D7F-9ADED3E994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8AB50287-81AA-46CA-8CB3-53A7F8313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9A48399-4B09-40FE-BAD6-60CD2D8C5191}" type="datetime1">
              <a:rPr lang="pl-PL" noProof="0" smtClean="0"/>
              <a:t>07.02.2026</a:t>
            </a:fld>
            <a:endParaRPr lang="pl-PL" noProof="0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2F1BA4AA-02C9-459E-9362-3DA60E3B5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AB2A2C8F-DBB4-4235-A67E-FB4039D9A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068395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a — symbol zastępczy 1">
            <a:extLst>
              <a:ext uri="{FF2B5EF4-FFF2-40B4-BE49-F238E27FC236}">
                <a16:creationId xmlns:a16="http://schemas.microsoft.com/office/drawing/2014/main" id="{B46ACAA5-F8E7-46E9-8BA7-A510948B6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D63692-C192-46F8-8745-BEDD3FFBC95F}" type="datetime1">
              <a:rPr lang="pl-PL" noProof="0" smtClean="0"/>
              <a:t>07.02.2026</a:t>
            </a:fld>
            <a:endParaRPr lang="pl-PL" noProof="0"/>
          </a:p>
        </p:txBody>
      </p:sp>
      <p:sp>
        <p:nvSpPr>
          <p:cNvPr id="3" name="Stopka — symbol zastępczy 2">
            <a:extLst>
              <a:ext uri="{FF2B5EF4-FFF2-40B4-BE49-F238E27FC236}">
                <a16:creationId xmlns:a16="http://schemas.microsoft.com/office/drawing/2014/main" id="{D1F2DEE8-5654-4DCA-A8D0-D883E52B6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B0B179A5-4329-4057-9DEB-5B6E3AD11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621790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291DA80-336B-4DBB-91A1-6E3E4B3C2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3840D456-F0A3-4789-A310-A23F01B2EC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Tekst — symbol zastępczy 3">
            <a:extLst>
              <a:ext uri="{FF2B5EF4-FFF2-40B4-BE49-F238E27FC236}">
                <a16:creationId xmlns:a16="http://schemas.microsoft.com/office/drawing/2014/main" id="{CB8A8B05-7071-44D4-80F7-3E8191C9A49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E5D8562E-E6F1-449B-909C-98426BA86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710968E-42B4-495F-9585-C12587996C9C}" type="datetime1">
              <a:rPr lang="pl-PL" noProof="0" smtClean="0"/>
              <a:t>07.02.2026</a:t>
            </a:fld>
            <a:endParaRPr lang="pl-PL" noProof="0"/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7EB47A9A-FB08-407B-A73A-0AC513F0F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4BFF841F-796A-4FE6-B5E0-C8A49867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08984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AD474D-6779-4C23-BD3C-82F5DC3E3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Obraz — symbol zastępczy 2">
            <a:extLst>
              <a:ext uri="{FF2B5EF4-FFF2-40B4-BE49-F238E27FC236}">
                <a16:creationId xmlns:a16="http://schemas.microsoft.com/office/drawing/2014/main" id="{0A21096C-E430-49C7-A801-21C0BD95DC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4" name="Tekst — symbol zastępczy 3">
            <a:extLst>
              <a:ext uri="{FF2B5EF4-FFF2-40B4-BE49-F238E27FC236}">
                <a16:creationId xmlns:a16="http://schemas.microsoft.com/office/drawing/2014/main" id="{0024828F-334F-4A50-850D-10684F24527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533293F4-2B70-4BB5-A982-219E4133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4A13897-3E29-44B2-9482-FF707DDBBCB2}" type="datetime1">
              <a:rPr lang="pl-PL" noProof="0" smtClean="0"/>
              <a:t>07.02.2026</a:t>
            </a:fld>
            <a:endParaRPr lang="pl-PL" noProof="0"/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C4F9A86F-B378-4759-B50E-2E0BFAE62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B0A95BDC-FC58-4638-AA59-A3DA9931F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790833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4A47D73-EDDA-49A6-BA12-1CA980DA9B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pionowy — symbol zastępczy 2">
            <a:extLst>
              <a:ext uri="{FF2B5EF4-FFF2-40B4-BE49-F238E27FC236}">
                <a16:creationId xmlns:a16="http://schemas.microsoft.com/office/drawing/2014/main" id="{2189B82E-4CA1-47A5-B133-FBD4D8A83983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938A267F-D142-4D04-9F03-6CB099E6F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6159452-3878-4479-850A-10341FA79439}" type="datetime1">
              <a:rPr lang="pl-PL" noProof="0" smtClean="0"/>
              <a:t>07.02.2026</a:t>
            </a:fld>
            <a:endParaRPr lang="pl-PL" noProof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705127CA-154D-4E90-B776-A2EE71F78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ED5F0BA5-F4EE-4282-B111-76B869BE2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067408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0256E92A-52E0-4710-BDEF-0A1534685403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pionowy — symbol zastępczy 2">
            <a:extLst>
              <a:ext uri="{FF2B5EF4-FFF2-40B4-BE49-F238E27FC236}">
                <a16:creationId xmlns:a16="http://schemas.microsoft.com/office/drawing/2014/main" id="{B7A240E1-5EB0-47FD-AA37-BF945D136CC3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 rtlCol="0"/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A1A14243-F1E4-487A-ABEC-30516A01D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D829CF0-1B4B-4986-841F-7369F92EEE33}" type="datetime1">
              <a:rPr lang="pl-PL" noProof="0" smtClean="0"/>
              <a:t>07.02.2026</a:t>
            </a:fld>
            <a:endParaRPr lang="pl-PL" noProof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AC358244-98FD-472D-AB8C-075F71C10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l-PL" noProof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74998D5A-820D-4519-967F-33320971C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AF1B4E-90EC-4A51-B6E5-B702C054ECB0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4024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— symbol zastępczy 1">
            <a:extLst>
              <a:ext uri="{FF2B5EF4-FFF2-40B4-BE49-F238E27FC236}">
                <a16:creationId xmlns:a16="http://schemas.microsoft.com/office/drawing/2014/main" id="{6D80BC3B-525F-4038-9330-0729879F9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99629186-93D7-46FA-AE02-36D942604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l-PL" noProof="0"/>
              <a:t>Edytuj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21BF1CEB-0530-4996-BAEF-2E6A04DAD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16D695F4-B153-42CA-BA50-31F1733A3166}" type="datetime1">
              <a:rPr lang="pl-PL" noProof="0" smtClean="0"/>
              <a:t>07.02.2026</a:t>
            </a:fld>
            <a:endParaRPr lang="pl-PL" noProof="0"/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C8DCFF3D-7353-4B4D-9E75-FA835E06E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pl-PL" noProof="0"/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F382C8D6-8B0B-4982-9EE4-AA823C69C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A6AF1B4E-90EC-4A51-B6E5-B702C054ECB0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010604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2.sv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2.sv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2.sv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2.svg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2.svg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2.svg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svg"/><Relationship Id="rId4" Type="http://schemas.openxmlformats.org/officeDocument/2006/relationships/image" Target="../media/image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svg"/><Relationship Id="rId4" Type="http://schemas.openxmlformats.org/officeDocument/2006/relationships/image" Target="../media/image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svg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2.svg"/><Relationship Id="rId4" Type="http://schemas.openxmlformats.org/officeDocument/2006/relationships/image" Target="../media/image8.svg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561AC0E-7195-4ACF-AA0A-5E2923A98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7803" y="4011597"/>
            <a:ext cx="7978969" cy="1363215"/>
          </a:xfrm>
        </p:spPr>
        <p:txBody>
          <a:bodyPr rtlCol="0" anchor="t">
            <a:normAutofit fontScale="90000"/>
          </a:bodyPr>
          <a:lstStyle/>
          <a:p>
            <a:pPr algn="l"/>
            <a:r>
              <a:rPr lang="pl-PL" sz="4400" dirty="0"/>
              <a:t>Porównanie skuteczności lekkich sieci CNN w zadaniu klasyfikacji obrazów</a:t>
            </a:r>
            <a:endParaRPr lang="pl-PL" sz="4400" dirty="0">
              <a:latin typeface="Franklin Gothic Book" panose="020B050302010202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14253EE-4FA2-4843-BE27-C7D5B08FF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51857" y="6171651"/>
            <a:ext cx="5609219" cy="576738"/>
          </a:xfrm>
        </p:spPr>
        <p:txBody>
          <a:bodyPr rtlCol="0" anchor="b">
            <a:normAutofit/>
          </a:bodyPr>
          <a:lstStyle/>
          <a:p>
            <a:pPr algn="r" rtl="0"/>
            <a:r>
              <a:rPr lang="pl-PL" sz="2000" dirty="0">
                <a:solidFill>
                  <a:schemeClr val="accent4"/>
                </a:solidFill>
                <a:latin typeface="Franklin Gothic Book" panose="020B0503020102020204" pitchFamily="34" charset="0"/>
              </a:rPr>
              <a:t>Bartosz Orliński</a:t>
            </a:r>
          </a:p>
        </p:txBody>
      </p:sp>
      <p:sp>
        <p:nvSpPr>
          <p:cNvPr id="29" name="Dowolny kształt: Kształt 28">
            <a:extLst>
              <a:ext uri="{FF2B5EF4-FFF2-40B4-BE49-F238E27FC236}">
                <a16:creationId xmlns:a16="http://schemas.microsoft.com/office/drawing/2014/main" id="{F6E384F5-137A-40B1-97F0-694CC6ECD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22218"/>
            <a:ext cx="3730752" cy="4735782"/>
          </a:xfrm>
          <a:custGeom>
            <a:avLst/>
            <a:gdLst>
              <a:gd name="connsiteX0" fmla="*/ 640080 w 3730752"/>
              <a:gd name="connsiteY0" fmla="*/ 0 h 4735782"/>
              <a:gd name="connsiteX1" fmla="*/ 3730752 w 3730752"/>
              <a:gd name="connsiteY1" fmla="*/ 3090672 h 4735782"/>
              <a:gd name="connsiteX2" fmla="*/ 3357725 w 3730752"/>
              <a:gd name="connsiteY2" fmla="*/ 4563870 h 4735782"/>
              <a:gd name="connsiteX3" fmla="*/ 3253285 w 3730752"/>
              <a:gd name="connsiteY3" fmla="*/ 4735782 h 4735782"/>
              <a:gd name="connsiteX4" fmla="*/ 0 w 3730752"/>
              <a:gd name="connsiteY4" fmla="*/ 4735782 h 4735782"/>
              <a:gd name="connsiteX5" fmla="*/ 0 w 3730752"/>
              <a:gd name="connsiteY5" fmla="*/ 67215 h 4735782"/>
              <a:gd name="connsiteX6" fmla="*/ 17202 w 3730752"/>
              <a:gd name="connsiteY6" fmla="*/ 62792 h 4735782"/>
              <a:gd name="connsiteX7" fmla="*/ 640080 w 3730752"/>
              <a:gd name="connsiteY7" fmla="*/ 0 h 4735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0752" h="4735782">
                <a:moveTo>
                  <a:pt x="640080" y="0"/>
                </a:moveTo>
                <a:cubicBezTo>
                  <a:pt x="2347011" y="0"/>
                  <a:pt x="3730752" y="1383741"/>
                  <a:pt x="3730752" y="3090672"/>
                </a:cubicBezTo>
                <a:cubicBezTo>
                  <a:pt x="3730752" y="3624088"/>
                  <a:pt x="3595621" y="4125943"/>
                  <a:pt x="3357725" y="4563870"/>
                </a:cubicBezTo>
                <a:lnTo>
                  <a:pt x="3253285" y="4735782"/>
                </a:lnTo>
                <a:lnTo>
                  <a:pt x="0" y="4735782"/>
                </a:lnTo>
                <a:lnTo>
                  <a:pt x="0" y="67215"/>
                </a:lnTo>
                <a:lnTo>
                  <a:pt x="17202" y="62792"/>
                </a:lnTo>
                <a:cubicBezTo>
                  <a:pt x="218397" y="21621"/>
                  <a:pt x="426714" y="0"/>
                  <a:pt x="64008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Dowolny kształt: Kształt 30">
            <a:extLst>
              <a:ext uri="{FF2B5EF4-FFF2-40B4-BE49-F238E27FC236}">
                <a16:creationId xmlns:a16="http://schemas.microsoft.com/office/drawing/2014/main" id="{EBA87361-6D30-46E4-834B-719CF5905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8332"/>
            <a:ext cx="3564638" cy="4569668"/>
          </a:xfrm>
          <a:custGeom>
            <a:avLst/>
            <a:gdLst>
              <a:gd name="connsiteX0" fmla="*/ 640080 w 3564638"/>
              <a:gd name="connsiteY0" fmla="*/ 0 h 4569668"/>
              <a:gd name="connsiteX1" fmla="*/ 3564638 w 3564638"/>
              <a:gd name="connsiteY1" fmla="*/ 2924558 h 4569668"/>
              <a:gd name="connsiteX2" fmla="*/ 3065170 w 3564638"/>
              <a:gd name="connsiteY2" fmla="*/ 4559707 h 4569668"/>
              <a:gd name="connsiteX3" fmla="*/ 3057720 w 3564638"/>
              <a:gd name="connsiteY3" fmla="*/ 4569668 h 4569668"/>
              <a:gd name="connsiteX4" fmla="*/ 0 w 3564638"/>
              <a:gd name="connsiteY4" fmla="*/ 4569668 h 4569668"/>
              <a:gd name="connsiteX5" fmla="*/ 0 w 3564638"/>
              <a:gd name="connsiteY5" fmla="*/ 72448 h 4569668"/>
              <a:gd name="connsiteX6" fmla="*/ 50679 w 3564638"/>
              <a:gd name="connsiteY6" fmla="*/ 59417 h 4569668"/>
              <a:gd name="connsiteX7" fmla="*/ 640080 w 3564638"/>
              <a:gd name="connsiteY7" fmla="*/ 0 h 456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64638" h="4569668">
                <a:moveTo>
                  <a:pt x="640080" y="0"/>
                </a:moveTo>
                <a:cubicBezTo>
                  <a:pt x="2255269" y="0"/>
                  <a:pt x="3564638" y="1309369"/>
                  <a:pt x="3564638" y="2924558"/>
                </a:cubicBezTo>
                <a:cubicBezTo>
                  <a:pt x="3564638" y="3530254"/>
                  <a:pt x="3380508" y="4092944"/>
                  <a:pt x="3065170" y="4559707"/>
                </a:cubicBezTo>
                <a:lnTo>
                  <a:pt x="3057720" y="4569668"/>
                </a:lnTo>
                <a:lnTo>
                  <a:pt x="0" y="4569668"/>
                </a:lnTo>
                <a:lnTo>
                  <a:pt x="0" y="72448"/>
                </a:lnTo>
                <a:lnTo>
                  <a:pt x="50679" y="59417"/>
                </a:lnTo>
                <a:cubicBezTo>
                  <a:pt x="241061" y="20459"/>
                  <a:pt x="438181" y="0"/>
                  <a:pt x="6400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Dowolny kształt: Kształt 32">
            <a:extLst>
              <a:ext uri="{FF2B5EF4-FFF2-40B4-BE49-F238E27FC236}">
                <a16:creationId xmlns:a16="http://schemas.microsoft.com/office/drawing/2014/main" id="{9DBC4630-03DA-474F-BBCB-BA3AE6B31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1982" y="-4332"/>
            <a:ext cx="4242816" cy="2454158"/>
          </a:xfrm>
          <a:custGeom>
            <a:avLst/>
            <a:gdLst>
              <a:gd name="connsiteX0" fmla="*/ 28633 w 4242816"/>
              <a:gd name="connsiteY0" fmla="*/ 0 h 2454158"/>
              <a:gd name="connsiteX1" fmla="*/ 4214183 w 4242816"/>
              <a:gd name="connsiteY1" fmla="*/ 0 h 2454158"/>
              <a:gd name="connsiteX2" fmla="*/ 4231864 w 4242816"/>
              <a:gd name="connsiteY2" fmla="*/ 115848 h 2454158"/>
              <a:gd name="connsiteX3" fmla="*/ 4242816 w 4242816"/>
              <a:gd name="connsiteY3" fmla="*/ 332750 h 2454158"/>
              <a:gd name="connsiteX4" fmla="*/ 2121408 w 4242816"/>
              <a:gd name="connsiteY4" fmla="*/ 2454158 h 2454158"/>
              <a:gd name="connsiteX5" fmla="*/ 0 w 4242816"/>
              <a:gd name="connsiteY5" fmla="*/ 332750 h 2454158"/>
              <a:gd name="connsiteX6" fmla="*/ 10953 w 4242816"/>
              <a:gd name="connsiteY6" fmla="*/ 115848 h 245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42816" h="2454158">
                <a:moveTo>
                  <a:pt x="28633" y="0"/>
                </a:moveTo>
                <a:lnTo>
                  <a:pt x="4214183" y="0"/>
                </a:lnTo>
                <a:lnTo>
                  <a:pt x="4231864" y="115848"/>
                </a:lnTo>
                <a:cubicBezTo>
                  <a:pt x="4239106" y="187164"/>
                  <a:pt x="4242816" y="259524"/>
                  <a:pt x="4242816" y="332750"/>
                </a:cubicBezTo>
                <a:cubicBezTo>
                  <a:pt x="4242816" y="1504371"/>
                  <a:pt x="3293029" y="2454158"/>
                  <a:pt x="2121408" y="2454158"/>
                </a:cubicBezTo>
                <a:cubicBezTo>
                  <a:pt x="949787" y="2454158"/>
                  <a:pt x="0" y="1504371"/>
                  <a:pt x="0" y="332750"/>
                </a:cubicBezTo>
                <a:cubicBezTo>
                  <a:pt x="0" y="259524"/>
                  <a:pt x="3710" y="187164"/>
                  <a:pt x="10953" y="11584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Dowolny kształt: Kształt 34">
            <a:extLst>
              <a:ext uri="{FF2B5EF4-FFF2-40B4-BE49-F238E27FC236}">
                <a16:creationId xmlns:a16="http://schemas.microsoft.com/office/drawing/2014/main" id="{D89DB1C0-FEEC-4CB6-88B2-F9C5562E0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574" y="0"/>
            <a:ext cx="3913632" cy="2285234"/>
          </a:xfrm>
          <a:custGeom>
            <a:avLst/>
            <a:gdLst>
              <a:gd name="connsiteX0" fmla="*/ 29691 w 3913632"/>
              <a:gd name="connsiteY0" fmla="*/ 0 h 2285234"/>
              <a:gd name="connsiteX1" fmla="*/ 3883942 w 3913632"/>
              <a:gd name="connsiteY1" fmla="*/ 0 h 2285234"/>
              <a:gd name="connsiteX2" fmla="*/ 3903529 w 3913632"/>
              <a:gd name="connsiteY2" fmla="*/ 128345 h 2285234"/>
              <a:gd name="connsiteX3" fmla="*/ 3913632 w 3913632"/>
              <a:gd name="connsiteY3" fmla="*/ 328418 h 2285234"/>
              <a:gd name="connsiteX4" fmla="*/ 1956816 w 3913632"/>
              <a:gd name="connsiteY4" fmla="*/ 2285234 h 2285234"/>
              <a:gd name="connsiteX5" fmla="*/ 0 w 3913632"/>
              <a:gd name="connsiteY5" fmla="*/ 328418 h 2285234"/>
              <a:gd name="connsiteX6" fmla="*/ 10103 w 3913632"/>
              <a:gd name="connsiteY6" fmla="*/ 128345 h 2285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3632" h="2285234">
                <a:moveTo>
                  <a:pt x="29691" y="0"/>
                </a:moveTo>
                <a:lnTo>
                  <a:pt x="3883942" y="0"/>
                </a:lnTo>
                <a:lnTo>
                  <a:pt x="3903529" y="128345"/>
                </a:lnTo>
                <a:cubicBezTo>
                  <a:pt x="3910210" y="194127"/>
                  <a:pt x="3913632" y="260873"/>
                  <a:pt x="3913632" y="328418"/>
                </a:cubicBezTo>
                <a:cubicBezTo>
                  <a:pt x="3913632" y="1409138"/>
                  <a:pt x="3037536" y="2285234"/>
                  <a:pt x="1956816" y="2285234"/>
                </a:cubicBezTo>
                <a:cubicBezTo>
                  <a:pt x="876096" y="2285234"/>
                  <a:pt x="0" y="1409138"/>
                  <a:pt x="0" y="328418"/>
                </a:cubicBezTo>
                <a:cubicBezTo>
                  <a:pt x="0" y="260873"/>
                  <a:pt x="3422" y="194127"/>
                  <a:pt x="10103" y="12834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fika 8" descr="Otwarta książka">
            <a:extLst>
              <a:ext uri="{FF2B5EF4-FFF2-40B4-BE49-F238E27FC236}">
                <a16:creationId xmlns:a16="http://schemas.microsoft.com/office/drawing/2014/main" id="{93E427C7-0218-4592-82DA-2431E4BF8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85250" y="164573"/>
            <a:ext cx="1636279" cy="1636279"/>
          </a:xfrm>
          <a:prstGeom prst="rect">
            <a:avLst/>
          </a:prstGeom>
        </p:spPr>
      </p:pic>
      <p:sp>
        <p:nvSpPr>
          <p:cNvPr id="37" name="Owal 36">
            <a:extLst>
              <a:ext uri="{FF2B5EF4-FFF2-40B4-BE49-F238E27FC236}">
                <a16:creationId xmlns:a16="http://schemas.microsoft.com/office/drawing/2014/main" id="{78418A25-6EAC-4140-BFE6-284E1925B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117" y="615908"/>
            <a:ext cx="3182112" cy="3182112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wal 38">
            <a:extLst>
              <a:ext uri="{FF2B5EF4-FFF2-40B4-BE49-F238E27FC236}">
                <a16:creationId xmlns:a16="http://schemas.microsoft.com/office/drawing/2014/main" id="{08163D1C-ED91-4D5F-A33B-CF1256B27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7709" y="780500"/>
            <a:ext cx="2852928" cy="285292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Grafika 4" descr="Czat">
            <a:extLst>
              <a:ext uri="{FF2B5EF4-FFF2-40B4-BE49-F238E27FC236}">
                <a16:creationId xmlns:a16="http://schemas.microsoft.com/office/drawing/2014/main" id="{EB71843F-0A0B-4317-B205-4B0A0B97C0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80302" y="1293093"/>
            <a:ext cx="1827742" cy="1827742"/>
          </a:xfrm>
          <a:prstGeom prst="rect">
            <a:avLst/>
          </a:prstGeom>
        </p:spPr>
      </p:pic>
      <p:pic>
        <p:nvPicPr>
          <p:cNvPr id="7" name="Grafika 6" descr="Ramka tablicy">
            <a:extLst>
              <a:ext uri="{FF2B5EF4-FFF2-40B4-BE49-F238E27FC236}">
                <a16:creationId xmlns:a16="http://schemas.microsoft.com/office/drawing/2014/main" id="{2696A1A4-8E43-47F6-A6DC-A9ADAB053D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0924" y="3621724"/>
            <a:ext cx="2594886" cy="2594886"/>
          </a:xfrm>
          <a:prstGeom prst="rect">
            <a:avLst/>
          </a:prstGeom>
        </p:spPr>
      </p:pic>
      <p:sp>
        <p:nvSpPr>
          <p:cNvPr id="41" name="Dowolny kształt: Kształt 40">
            <a:extLst>
              <a:ext uri="{FF2B5EF4-FFF2-40B4-BE49-F238E27FC236}">
                <a16:creationId xmlns:a16="http://schemas.microsoft.com/office/drawing/2014/main" id="{31103AB2-C090-458F-B752-294F23AFA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2568" y="-4331"/>
            <a:ext cx="3439432" cy="3785157"/>
          </a:xfrm>
          <a:custGeom>
            <a:avLst/>
            <a:gdLst>
              <a:gd name="connsiteX0" fmla="*/ 198262 w 3439432"/>
              <a:gd name="connsiteY0" fmla="*/ 0 h 3785157"/>
              <a:gd name="connsiteX1" fmla="*/ 3439432 w 3439432"/>
              <a:gd name="connsiteY1" fmla="*/ 0 h 3785157"/>
              <a:gd name="connsiteX2" fmla="*/ 3439432 w 3439432"/>
              <a:gd name="connsiteY2" fmla="*/ 3697836 h 3785157"/>
              <a:gd name="connsiteX3" fmla="*/ 3318024 w 3439432"/>
              <a:gd name="connsiteY3" fmla="*/ 3729054 h 3785157"/>
              <a:gd name="connsiteX4" fmla="*/ 2761488 w 3439432"/>
              <a:gd name="connsiteY4" fmla="*/ 3785157 h 3785157"/>
              <a:gd name="connsiteX5" fmla="*/ 0 w 3439432"/>
              <a:gd name="connsiteY5" fmla="*/ 1023669 h 3785157"/>
              <a:gd name="connsiteX6" fmla="*/ 124151 w 3439432"/>
              <a:gd name="connsiteY6" fmla="*/ 202487 h 3785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39432" h="3785157">
                <a:moveTo>
                  <a:pt x="198262" y="0"/>
                </a:moveTo>
                <a:lnTo>
                  <a:pt x="3439432" y="0"/>
                </a:lnTo>
                <a:lnTo>
                  <a:pt x="3439432" y="3697836"/>
                </a:lnTo>
                <a:lnTo>
                  <a:pt x="3318024" y="3729054"/>
                </a:lnTo>
                <a:cubicBezTo>
                  <a:pt x="3138258" y="3765839"/>
                  <a:pt x="2952129" y="3785157"/>
                  <a:pt x="2761488" y="3785157"/>
                </a:cubicBezTo>
                <a:cubicBezTo>
                  <a:pt x="1236360" y="3785157"/>
                  <a:pt x="0" y="2548797"/>
                  <a:pt x="0" y="1023669"/>
                </a:cubicBezTo>
                <a:cubicBezTo>
                  <a:pt x="0" y="737708"/>
                  <a:pt x="43466" y="461898"/>
                  <a:pt x="124151" y="202487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Dowolny kształt: Kształt 42">
            <a:extLst>
              <a:ext uri="{FF2B5EF4-FFF2-40B4-BE49-F238E27FC236}">
                <a16:creationId xmlns:a16="http://schemas.microsoft.com/office/drawing/2014/main" id="{83D471F3-782A-4BA1-9CAB-FF5CDF0A7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8761" y="-4332"/>
            <a:ext cx="3273238" cy="3618965"/>
          </a:xfrm>
          <a:custGeom>
            <a:avLst/>
            <a:gdLst>
              <a:gd name="connsiteX0" fmla="*/ 210437 w 3273238"/>
              <a:gd name="connsiteY0" fmla="*/ 0 h 3618965"/>
              <a:gd name="connsiteX1" fmla="*/ 3273238 w 3273238"/>
              <a:gd name="connsiteY1" fmla="*/ 0 h 3618965"/>
              <a:gd name="connsiteX2" fmla="*/ 3273238 w 3273238"/>
              <a:gd name="connsiteY2" fmla="*/ 3526409 h 3618965"/>
              <a:gd name="connsiteX3" fmla="*/ 3118338 w 3273238"/>
              <a:gd name="connsiteY3" fmla="*/ 3566238 h 3618965"/>
              <a:gd name="connsiteX4" fmla="*/ 2595295 w 3273238"/>
              <a:gd name="connsiteY4" fmla="*/ 3618965 h 3618965"/>
              <a:gd name="connsiteX5" fmla="*/ 0 w 3273238"/>
              <a:gd name="connsiteY5" fmla="*/ 1023670 h 3618965"/>
              <a:gd name="connsiteX6" fmla="*/ 203951 w 3273238"/>
              <a:gd name="connsiteY6" fmla="*/ 13464 h 36189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73238" h="3618965">
                <a:moveTo>
                  <a:pt x="210437" y="0"/>
                </a:moveTo>
                <a:lnTo>
                  <a:pt x="3273238" y="0"/>
                </a:lnTo>
                <a:lnTo>
                  <a:pt x="3273238" y="3526409"/>
                </a:lnTo>
                <a:lnTo>
                  <a:pt x="3118338" y="3566238"/>
                </a:lnTo>
                <a:cubicBezTo>
                  <a:pt x="2949390" y="3600810"/>
                  <a:pt x="2774463" y="3618965"/>
                  <a:pt x="2595295" y="3618965"/>
                </a:cubicBezTo>
                <a:cubicBezTo>
                  <a:pt x="1161953" y="3618965"/>
                  <a:pt x="0" y="2457012"/>
                  <a:pt x="0" y="1023670"/>
                </a:cubicBezTo>
                <a:cubicBezTo>
                  <a:pt x="0" y="665335"/>
                  <a:pt x="72622" y="323961"/>
                  <a:pt x="203951" y="1346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Grafika 10" descr="Książki na półce">
            <a:extLst>
              <a:ext uri="{FF2B5EF4-FFF2-40B4-BE49-F238E27FC236}">
                <a16:creationId xmlns:a16="http://schemas.microsoft.com/office/drawing/2014/main" id="{18A239E6-97C0-4A74-8E7A-C9FD39A8C92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25024" y="327889"/>
            <a:ext cx="2260711" cy="2260711"/>
          </a:xfrm>
          <a:prstGeom prst="rect">
            <a:avLst/>
          </a:prstGeom>
        </p:spPr>
      </p:pic>
      <p:sp>
        <p:nvSpPr>
          <p:cNvPr id="13" name="Tytuł 1">
            <a:extLst>
              <a:ext uri="{FF2B5EF4-FFF2-40B4-BE49-F238E27FC236}">
                <a16:creationId xmlns:a16="http://schemas.microsoft.com/office/drawing/2014/main" id="{619BE6A0-0D6A-9D52-2375-EC45845FA3B2}"/>
              </a:ext>
            </a:extLst>
          </p:cNvPr>
          <p:cNvSpPr txBox="1">
            <a:spLocks/>
          </p:cNvSpPr>
          <p:nvPr/>
        </p:nvSpPr>
        <p:spPr>
          <a:xfrm>
            <a:off x="5951161" y="5199391"/>
            <a:ext cx="7111123" cy="136321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Franklin Gothic Book" panose="020B0503020102020204" pitchFamily="34" charset="0"/>
                <a:cs typeface="Segoe UI" panose="020B0502040204020203" pitchFamily="34" charset="0"/>
              </a:rPr>
              <a:t>EfficientNet-B0 vs ShuffleNetV2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l-PL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Franklin Gothic Book" panose="020B0503020102020204" pitchFamily="34" charset="0"/>
                <a:cs typeface="Segoe UI" panose="020B0502040204020203" pitchFamily="34" charset="0"/>
              </a:rPr>
              <a:t>Wpływ augmentacji danych i rozmiaru zbioru treningowego</a:t>
            </a:r>
          </a:p>
        </p:txBody>
      </p:sp>
    </p:spTree>
    <p:extLst>
      <p:ext uri="{BB962C8B-B14F-4D97-AF65-F5344CB8AC3E}">
        <p14:creationId xmlns:p14="http://schemas.microsoft.com/office/powerpoint/2010/main" val="322398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42C824B-4279-4D47-92DD-71F5353FA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308" y="169573"/>
            <a:ext cx="10515600" cy="1325563"/>
          </a:xfrm>
        </p:spPr>
        <p:txBody>
          <a:bodyPr rtlCol="0"/>
          <a:lstStyle/>
          <a:p>
            <a:r>
              <a:rPr lang="pl-PL" b="1" dirty="0">
                <a:latin typeface="Franklin Gothic Book" panose="020B0503020102020204" pitchFamily="34" charset="0"/>
              </a:rPr>
              <a:t>Cel eksperymentu</a:t>
            </a:r>
            <a:endParaRPr lang="pl-PL" b="1" dirty="0">
              <a:latin typeface="Franklin Gothic Book" panose="020B0503020102020204" pitchFamily="34" charset="0"/>
              <a:cs typeface="Segoe UI" panose="020B0502040204020203" pitchFamily="34" charset="0"/>
            </a:endParaRPr>
          </a:p>
        </p:txBody>
      </p:sp>
      <p:sp>
        <p:nvSpPr>
          <p:cNvPr id="8" name="Owal 7">
            <a:extLst>
              <a:ext uri="{FF2B5EF4-FFF2-40B4-BE49-F238E27FC236}">
                <a16:creationId xmlns:a16="http://schemas.microsoft.com/office/drawing/2014/main" id="{E5585411-DE61-42EC-8DAB-BA853F129791}"/>
              </a:ext>
            </a:extLst>
          </p:cNvPr>
          <p:cNvSpPr/>
          <p:nvPr/>
        </p:nvSpPr>
        <p:spPr>
          <a:xfrm>
            <a:off x="604771" y="1609942"/>
            <a:ext cx="586154" cy="575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pl-PL" sz="3600" b="1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25AD4F61-E023-4530-BF03-8BC2D825D0BF}"/>
              </a:ext>
            </a:extLst>
          </p:cNvPr>
          <p:cNvSpPr txBox="1"/>
          <p:nvPr/>
        </p:nvSpPr>
        <p:spPr>
          <a:xfrm>
            <a:off x="1190925" y="2137436"/>
            <a:ext cx="25537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/>
              <a:t>Porównanie dwóch architektur CNN</a:t>
            </a:r>
            <a:r>
              <a:rPr lang="pl-PL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EfficientNet-B0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ShuffleNetV2 x1.0</a:t>
            </a:r>
          </a:p>
        </p:txBody>
      </p:sp>
      <p:sp>
        <p:nvSpPr>
          <p:cNvPr id="9" name="Owal 8">
            <a:extLst>
              <a:ext uri="{FF2B5EF4-FFF2-40B4-BE49-F238E27FC236}">
                <a16:creationId xmlns:a16="http://schemas.microsoft.com/office/drawing/2014/main" id="{6D1E12A6-FA7A-477F-8C87-308C5B84B139}"/>
              </a:ext>
            </a:extLst>
          </p:cNvPr>
          <p:cNvSpPr/>
          <p:nvPr/>
        </p:nvSpPr>
        <p:spPr>
          <a:xfrm>
            <a:off x="3682186" y="4007435"/>
            <a:ext cx="586154" cy="575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pl-PL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E5564556-59F0-4D0A-A6CD-ADF8F4D7428B}"/>
              </a:ext>
            </a:extLst>
          </p:cNvPr>
          <p:cNvSpPr txBox="1"/>
          <p:nvPr/>
        </p:nvSpPr>
        <p:spPr>
          <a:xfrm>
            <a:off x="4268340" y="4583376"/>
            <a:ext cx="65034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/>
              <a:t>Analiza wpływu: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liczby danych treningowych (E1–E4)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augmentacji danych (A1–A4)</a:t>
            </a:r>
          </a:p>
        </p:txBody>
      </p:sp>
      <p:sp>
        <p:nvSpPr>
          <p:cNvPr id="13" name="Owal 12">
            <a:extLst>
              <a:ext uri="{FF2B5EF4-FFF2-40B4-BE49-F238E27FC236}">
                <a16:creationId xmlns:a16="http://schemas.microsoft.com/office/drawing/2014/main" id="{80E468E0-1E2D-4439-A9A0-6DAD141DA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20090" y="2185883"/>
            <a:ext cx="586154" cy="5759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r>
              <a:rPr lang="pl-PL" sz="3600" b="1" dirty="0">
                <a:latin typeface="Segoe UI" panose="020B0502040204020203" pitchFamily="34" charset="0"/>
                <a:cs typeface="Segoe UI" panose="020B0502040204020203" pitchFamily="34" charset="0"/>
              </a:rPr>
              <a:t>3</a:t>
            </a:r>
          </a:p>
        </p:txBody>
      </p:sp>
      <p:sp>
        <p:nvSpPr>
          <p:cNvPr id="14" name="Pole tekstowe 6">
            <a:extLst>
              <a:ext uri="{FF2B5EF4-FFF2-40B4-BE49-F238E27FC236}">
                <a16:creationId xmlns:a16="http://schemas.microsoft.com/office/drawing/2014/main" id="{85C131C3-9107-8625-1588-46B6AC55B69C}"/>
              </a:ext>
            </a:extLst>
          </p:cNvPr>
          <p:cNvSpPr txBox="1"/>
          <p:nvPr/>
        </p:nvSpPr>
        <p:spPr>
          <a:xfrm>
            <a:off x="8106244" y="2737600"/>
            <a:ext cx="65034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/>
              <a:t>Ocena jakości klasyfikacji przy użyciu</a:t>
            </a:r>
            <a:r>
              <a:rPr lang="pl-PL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accuracy</a:t>
            </a: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macro-F1</a:t>
            </a:r>
          </a:p>
        </p:txBody>
      </p:sp>
    </p:spTree>
    <p:extLst>
      <p:ext uri="{BB962C8B-B14F-4D97-AF65-F5344CB8AC3E}">
        <p14:creationId xmlns:p14="http://schemas.microsoft.com/office/powerpoint/2010/main" val="153491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:a16="http://schemas.microsoft.com/office/drawing/2014/main" id="{64BD0A42-B011-4DBF-B5CD-6718A97E3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l-PL" b="1" dirty="0">
                <a:latin typeface="Franklin Gothic Book" panose="020B0503020102020204" pitchFamily="34" charset="0"/>
              </a:rPr>
              <a:t>Dane:</a:t>
            </a:r>
          </a:p>
        </p:txBody>
      </p:sp>
      <p:sp>
        <p:nvSpPr>
          <p:cNvPr id="13" name="Pole tekstowe 6">
            <a:extLst>
              <a:ext uri="{FF2B5EF4-FFF2-40B4-BE49-F238E27FC236}">
                <a16:creationId xmlns:a16="http://schemas.microsoft.com/office/drawing/2014/main" id="{8AD3A25D-9027-0342-B35D-F67702C00FFB}"/>
              </a:ext>
            </a:extLst>
          </p:cNvPr>
          <p:cNvSpPr txBox="1"/>
          <p:nvPr/>
        </p:nvSpPr>
        <p:spPr>
          <a:xfrm>
            <a:off x="3073887" y="1156490"/>
            <a:ext cx="650349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b="1" dirty="0"/>
              <a:t>Zbiór obrazów podzielony na klasy (5 klas)</a:t>
            </a:r>
          </a:p>
          <a:p>
            <a:endParaRPr lang="pl-PL" sz="2000" b="1" dirty="0"/>
          </a:p>
          <a:p>
            <a:r>
              <a:rPr lang="pl-PL" sz="2000" b="1" dirty="0"/>
              <a:t>	</a:t>
            </a:r>
            <a:r>
              <a:rPr lang="pl-PL" sz="2000" dirty="0"/>
              <a:t>Stały zbiór testowy:</a:t>
            </a:r>
          </a:p>
          <a:p>
            <a:endParaRPr lang="pl-PL" sz="20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l-PL" sz="2000" dirty="0"/>
              <a:t>20 obrazów</a:t>
            </a:r>
          </a:p>
          <a:p>
            <a:endParaRPr lang="pl-PL" sz="2000" b="1" dirty="0"/>
          </a:p>
          <a:p>
            <a:r>
              <a:rPr lang="pl-PL" sz="2000" b="1" dirty="0"/>
              <a:t>Cztery scenariusze treningowe:</a:t>
            </a:r>
          </a:p>
          <a:p>
            <a:endParaRPr lang="pl-PL" sz="2000" b="1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l-PL" sz="2000" dirty="0"/>
              <a:t>E1: 200 próbek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sz="20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l-PL" sz="2000" dirty="0"/>
              <a:t>E2: 130 próbek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sz="20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l-PL" sz="2000" dirty="0"/>
              <a:t>E3: 70 próbek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sz="20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l-PL" sz="2000" dirty="0"/>
              <a:t>E4: 70 próbek (najtrudniejszy)</a:t>
            </a:r>
          </a:p>
        </p:txBody>
      </p:sp>
      <p:pic>
        <p:nvPicPr>
          <p:cNvPr id="17" name="Obraz 16" descr="Obraz zawierający ssak, Małe i średnie samochody, Kotowate, kot domowy&#10;&#10;Zawartość wygenerowana przez AI może być niepoprawna.">
            <a:extLst>
              <a:ext uri="{FF2B5EF4-FFF2-40B4-BE49-F238E27FC236}">
                <a16:creationId xmlns:a16="http://schemas.microsoft.com/office/drawing/2014/main" id="{245C80F8-E37E-E699-031F-2F125FF6C3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5824" y="4385128"/>
            <a:ext cx="2847975" cy="1600200"/>
          </a:xfrm>
          <a:prstGeom prst="rect">
            <a:avLst/>
          </a:prstGeom>
        </p:spPr>
      </p:pic>
      <p:pic>
        <p:nvPicPr>
          <p:cNvPr id="19" name="Obraz 18" descr="Obraz zawierający ssak, kot domowy, Małe i średnie samochody, kot&#10;&#10;Zawartość wygenerowana przez AI może być niepoprawna.">
            <a:extLst>
              <a:ext uri="{FF2B5EF4-FFF2-40B4-BE49-F238E27FC236}">
                <a16:creationId xmlns:a16="http://schemas.microsoft.com/office/drawing/2014/main" id="{4352F93D-6244-4383-8593-ADD829DF67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5824" y="1027906"/>
            <a:ext cx="2143125" cy="2143125"/>
          </a:xfrm>
          <a:prstGeom prst="rect">
            <a:avLst/>
          </a:prstGeom>
        </p:spPr>
      </p:pic>
      <p:pic>
        <p:nvPicPr>
          <p:cNvPr id="21" name="Obraz 20" descr="Obraz zawierający ssak, kot, kot domowy, Małe i średnie samochody&#10;&#10;Zawartość wygenerowana przez AI może być niepoprawna.">
            <a:extLst>
              <a:ext uri="{FF2B5EF4-FFF2-40B4-BE49-F238E27FC236}">
                <a16:creationId xmlns:a16="http://schemas.microsoft.com/office/drawing/2014/main" id="{E49C221E-F660-16E7-D5C8-263350CFFD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373" y="235743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580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F9E175-B0A9-9978-D7C2-413B4B514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8971677-6594-82E6-91CA-5E530D715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2085" y="808861"/>
            <a:ext cx="4509346" cy="1469965"/>
          </a:xfrm>
        </p:spPr>
        <p:txBody>
          <a:bodyPr rtlCol="0" anchor="ctr">
            <a:normAutofit/>
          </a:bodyPr>
          <a:lstStyle/>
          <a:p>
            <a:pPr rtl="0"/>
            <a:r>
              <a:rPr lang="pl-PL" b="1" dirty="0">
                <a:latin typeface="Franklin Gothic Book" panose="020B0503020102020204" pitchFamily="34" charset="0"/>
                <a:cs typeface="Segoe UI" panose="020B0502040204020203" pitchFamily="34" charset="0"/>
              </a:rPr>
              <a:t>Augmentacje</a:t>
            </a:r>
          </a:p>
        </p:txBody>
      </p:sp>
      <p:pic>
        <p:nvPicPr>
          <p:cNvPr id="5" name="Grafika 4" descr="Otwarta książka">
            <a:extLst>
              <a:ext uri="{FF2B5EF4-FFF2-40B4-BE49-F238E27FC236}">
                <a16:creationId xmlns:a16="http://schemas.microsoft.com/office/drawing/2014/main" id="{8588BCC0-3182-F509-0642-1E98C80821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400" y="995204"/>
            <a:ext cx="1097280" cy="1097280"/>
          </a:xfrm>
          <a:prstGeom prst="rect">
            <a:avLst/>
          </a:prstGeom>
        </p:spPr>
      </p:pic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274EE176-8F51-8F81-52EC-2F3E4082C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2085" y="2278826"/>
            <a:ext cx="7476372" cy="376283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pl-PL" sz="2000" dirty="0">
                <a:latin typeface="Segoe UI" panose="020B0502040204020203" pitchFamily="34" charset="0"/>
                <a:cs typeface="Segoe UI" panose="020B0502040204020203" pitchFamily="34" charset="0"/>
              </a:rPr>
              <a:t>A1 – podstawowe przekształcenia</a:t>
            </a:r>
          </a:p>
          <a:p>
            <a:endParaRPr lang="pl-PL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l-PL" sz="2000" dirty="0">
                <a:latin typeface="Segoe UI" panose="020B0502040204020203" pitchFamily="34" charset="0"/>
                <a:cs typeface="Segoe UI" panose="020B0502040204020203" pitchFamily="34" charset="0"/>
              </a:rPr>
              <a:t>A2 – umiarkowana augmentacja</a:t>
            </a:r>
          </a:p>
          <a:p>
            <a:endParaRPr lang="pl-PL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l-PL" sz="2000" dirty="0">
                <a:latin typeface="Segoe UI" panose="020B0502040204020203" pitchFamily="34" charset="0"/>
                <a:cs typeface="Segoe UI" panose="020B0502040204020203" pitchFamily="34" charset="0"/>
              </a:rPr>
              <a:t>A3 – umiarkowana augmentacja (wariant)</a:t>
            </a:r>
          </a:p>
          <a:p>
            <a:endParaRPr lang="pl-PL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l-PL" sz="2000" dirty="0">
                <a:latin typeface="Segoe UI" panose="020B0502040204020203" pitchFamily="34" charset="0"/>
                <a:cs typeface="Segoe UI" panose="020B0502040204020203" pitchFamily="34" charset="0"/>
              </a:rPr>
              <a:t>A4 – agresywna augmentacja</a:t>
            </a:r>
          </a:p>
          <a:p>
            <a:endParaRPr lang="pl-PL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l-PL" sz="2000" dirty="0">
                <a:latin typeface="Segoe UI" panose="020B0502040204020203" pitchFamily="34" charset="0"/>
                <a:cs typeface="Segoe UI" panose="020B0502040204020203" pitchFamily="34" charset="0"/>
              </a:rPr>
              <a:t>Cel: zwiększenie zdolności generalizacji modelu przy ograniczonej liczbie danych</a:t>
            </a:r>
          </a:p>
        </p:txBody>
      </p:sp>
      <p:pic>
        <p:nvPicPr>
          <p:cNvPr id="9" name="Grafika 8">
            <a:extLst>
              <a:ext uri="{FF2B5EF4-FFF2-40B4-BE49-F238E27FC236}">
                <a16:creationId xmlns:a16="http://schemas.microsoft.com/office/drawing/2014/main" id="{1C552DDC-5A2B-CCE7-D876-7F3DB67DA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950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34CEF4-01D3-4AF7-9E84-F43030ACA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101" y="700223"/>
            <a:ext cx="5406902" cy="1469965"/>
          </a:xfrm>
        </p:spPr>
        <p:txBody>
          <a:bodyPr rtlCol="0" anchor="ctr">
            <a:normAutofit/>
          </a:bodyPr>
          <a:lstStyle/>
          <a:p>
            <a:pPr rtl="0"/>
            <a:r>
              <a:rPr lang="pl-PL" b="1" dirty="0">
                <a:latin typeface="Franklin Gothic Book" panose="020B0503020102020204" pitchFamily="34" charset="0"/>
                <a:cs typeface="Segoe UI" panose="020B0502040204020203" pitchFamily="34" charset="0"/>
              </a:rPr>
              <a:t>Modele</a:t>
            </a:r>
          </a:p>
        </p:txBody>
      </p:sp>
      <p:pic>
        <p:nvPicPr>
          <p:cNvPr id="4" name="Grafika 3" descr="Książki na półce">
            <a:extLst>
              <a:ext uri="{FF2B5EF4-FFF2-40B4-BE49-F238E27FC236}">
                <a16:creationId xmlns:a16="http://schemas.microsoft.com/office/drawing/2014/main" id="{3DE94ADA-0031-43D4-A79A-B89B959930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971" y="816337"/>
            <a:ext cx="1097280" cy="1097280"/>
          </a:xfrm>
          <a:prstGeom prst="rect">
            <a:avLst/>
          </a:prstGeom>
        </p:spPr>
      </p:pic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31EFD88C-EC41-4850-9D1D-676D6AEE0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1101" y="2054073"/>
            <a:ext cx="5930053" cy="42015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l-PL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EfficientNet-B0</a:t>
            </a:r>
          </a:p>
          <a:p>
            <a:r>
              <a:rPr lang="pl-PL" sz="2000" dirty="0">
                <a:latin typeface="Segoe UI" panose="020B0502040204020203" pitchFamily="34" charset="0"/>
                <a:cs typeface="Segoe UI" panose="020B0502040204020203" pitchFamily="34" charset="0"/>
              </a:rPr>
              <a:t>architektura zoptymalizowana pod kątem wydajność / dokładność</a:t>
            </a:r>
          </a:p>
          <a:p>
            <a:r>
              <a:rPr lang="pl-PL" sz="2000" dirty="0">
                <a:latin typeface="Segoe UI" panose="020B0502040204020203" pitchFamily="34" charset="0"/>
                <a:cs typeface="Segoe UI" panose="020B0502040204020203" pitchFamily="34" charset="0"/>
              </a:rPr>
              <a:t>większa pojemność reprezentacyjna</a:t>
            </a:r>
          </a:p>
          <a:p>
            <a:endParaRPr lang="pl-PL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pl-PL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ShuffleNetV2</a:t>
            </a:r>
          </a:p>
          <a:p>
            <a:r>
              <a:rPr lang="pl-PL" sz="2000" dirty="0">
                <a:latin typeface="Segoe UI" panose="020B0502040204020203" pitchFamily="34" charset="0"/>
                <a:cs typeface="Segoe UI" panose="020B0502040204020203" pitchFamily="34" charset="0"/>
              </a:rPr>
              <a:t>bardzo lekka architektura</a:t>
            </a:r>
          </a:p>
          <a:p>
            <a:r>
              <a:rPr lang="pl-PL" sz="2000" dirty="0">
                <a:latin typeface="Segoe UI" panose="020B0502040204020203" pitchFamily="34" charset="0"/>
                <a:cs typeface="Segoe UI" panose="020B0502040204020203" pitchFamily="34" charset="0"/>
              </a:rPr>
              <a:t>projektowana pod urządzenia o niskiej mocy obliczeniowej</a:t>
            </a:r>
          </a:p>
        </p:txBody>
      </p:sp>
      <p:pic>
        <p:nvPicPr>
          <p:cNvPr id="8" name="Grafika 7">
            <a:extLst>
              <a:ext uri="{FF2B5EF4-FFF2-40B4-BE49-F238E27FC236}">
                <a16:creationId xmlns:a16="http://schemas.microsoft.com/office/drawing/2014/main" id="{984A409A-26BF-476C-858A-CFA0EBFAB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7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FDE5079-B185-4DE0-AF2C-AE4B7709F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5872" y="379680"/>
            <a:ext cx="5406902" cy="1469965"/>
          </a:xfrm>
        </p:spPr>
        <p:txBody>
          <a:bodyPr rtlCol="0" anchor="ctr">
            <a:normAutofit/>
          </a:bodyPr>
          <a:lstStyle/>
          <a:p>
            <a:r>
              <a:rPr lang="pl-PL" b="1" dirty="0">
                <a:latin typeface="Franklin Gothic Book" panose="020B0503020102020204" pitchFamily="34" charset="0"/>
              </a:rPr>
              <a:t>Konfiguracja treningu</a:t>
            </a:r>
            <a:endParaRPr lang="pl-PL" b="1" dirty="0">
              <a:latin typeface="Franklin Gothic Book" panose="020B0503020102020204" pitchFamily="34" charset="0"/>
              <a:cs typeface="Segoe UI" panose="020B0502040204020203" pitchFamily="34" charset="0"/>
            </a:endParaRPr>
          </a:p>
        </p:txBody>
      </p:sp>
      <p:pic>
        <p:nvPicPr>
          <p:cNvPr id="4" name="Zawartość — symbol zastępczy 4" descr="Szale Sprawiedliwości">
            <a:extLst>
              <a:ext uri="{FF2B5EF4-FFF2-40B4-BE49-F238E27FC236}">
                <a16:creationId xmlns:a16="http://schemas.microsoft.com/office/drawing/2014/main" id="{53025FED-9BCD-4BE9-B74C-707E5FD740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6314" y="412932"/>
            <a:ext cx="1097280" cy="1097280"/>
          </a:xfrm>
          <a:prstGeom prst="rect">
            <a:avLst/>
          </a:prstGeom>
        </p:spPr>
      </p:pic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89B4E0E8-07C8-4A23-99E2-20D6DFD6F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7215" y="1849645"/>
            <a:ext cx="4384216" cy="41920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Framework: </a:t>
            </a:r>
            <a:r>
              <a:rPr lang="pl-PL" sz="2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PyTorch</a:t>
            </a:r>
            <a:endParaRPr lang="pl-PL" sz="2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l-PL" sz="2000" dirty="0">
                <a:latin typeface="Segoe UI" panose="020B0502040204020203" pitchFamily="34" charset="0"/>
                <a:cs typeface="Segoe UI" panose="020B0502040204020203" pitchFamily="34" charset="0"/>
              </a:rPr>
              <a:t>GPU: NVIDIA RTX 4070</a:t>
            </a:r>
          </a:p>
          <a:p>
            <a:r>
              <a:rPr lang="pl-PL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Batch</a:t>
            </a:r>
            <a:r>
              <a:rPr lang="pl-PL" sz="20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size</a:t>
            </a:r>
            <a:r>
              <a:rPr lang="pl-PL" sz="2000" dirty="0">
                <a:latin typeface="Segoe UI" panose="020B0502040204020203" pitchFamily="34" charset="0"/>
                <a:cs typeface="Segoe UI" panose="020B0502040204020203" pitchFamily="34" charset="0"/>
              </a:rPr>
              <a:t>: 128</a:t>
            </a:r>
          </a:p>
          <a:p>
            <a:r>
              <a:rPr lang="pl-PL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Epochs</a:t>
            </a:r>
            <a:r>
              <a:rPr lang="pl-PL" sz="2000" dirty="0">
                <a:latin typeface="Segoe UI" panose="020B0502040204020203" pitchFamily="34" charset="0"/>
                <a:cs typeface="Segoe UI" panose="020B0502040204020203" pitchFamily="34" charset="0"/>
              </a:rPr>
              <a:t>: 20</a:t>
            </a:r>
          </a:p>
          <a:p>
            <a:r>
              <a:rPr lang="pl-PL" sz="2000" dirty="0">
                <a:latin typeface="Segoe UI" panose="020B0502040204020203" pitchFamily="34" charset="0"/>
                <a:cs typeface="Segoe UI" panose="020B0502040204020203" pitchFamily="34" charset="0"/>
              </a:rPr>
              <a:t>Learning </a:t>
            </a:r>
            <a:r>
              <a:rPr lang="pl-PL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rate</a:t>
            </a:r>
            <a:r>
              <a:rPr lang="pl-PL" sz="2000" dirty="0">
                <a:latin typeface="Segoe UI" panose="020B0502040204020203" pitchFamily="34" charset="0"/>
                <a:cs typeface="Segoe UI" panose="020B0502040204020203" pitchFamily="34" charset="0"/>
              </a:rPr>
              <a:t>: 1e-4</a:t>
            </a:r>
          </a:p>
          <a:p>
            <a:endParaRPr lang="pl-PL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l-PL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Optymalizacja:</a:t>
            </a:r>
          </a:p>
          <a:p>
            <a:r>
              <a:rPr lang="pl-PL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pin_memory</a:t>
            </a:r>
            <a:endParaRPr lang="pl-PL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l-PL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persistent_workers</a:t>
            </a:r>
            <a:endParaRPr lang="pl-PL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8" name="Zawartość — symbol zastępczy 4">
            <a:extLst>
              <a:ext uri="{FF2B5EF4-FFF2-40B4-BE49-F238E27FC236}">
                <a16:creationId xmlns:a16="http://schemas.microsoft.com/office/drawing/2014/main" id="{17062073-5027-4AA3-AB16-4D2C8C505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630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BB9335-09A0-45D0-B503-EEDA6523F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955D489-BECD-D1E8-59A9-B78CAFCF9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101" y="700223"/>
            <a:ext cx="5406902" cy="1469965"/>
          </a:xfrm>
        </p:spPr>
        <p:txBody>
          <a:bodyPr rtlCol="0" anchor="ctr">
            <a:normAutofit/>
          </a:bodyPr>
          <a:lstStyle/>
          <a:p>
            <a:r>
              <a:rPr lang="pl-PL" b="1" dirty="0">
                <a:latin typeface="Franklin Gothic Book" panose="020B0503020102020204" pitchFamily="34" charset="0"/>
              </a:rPr>
              <a:t>Metryki</a:t>
            </a:r>
            <a:endParaRPr lang="pl-PL" b="1" dirty="0">
              <a:latin typeface="Franklin Gothic Book" panose="020B0503020102020204" pitchFamily="34" charset="0"/>
              <a:cs typeface="Segoe UI" panose="020B0502040204020203" pitchFamily="34" charset="0"/>
            </a:endParaRPr>
          </a:p>
        </p:txBody>
      </p:sp>
      <p:pic>
        <p:nvPicPr>
          <p:cNvPr id="4" name="Grafika 3" descr="Książki na półce">
            <a:extLst>
              <a:ext uri="{FF2B5EF4-FFF2-40B4-BE49-F238E27FC236}">
                <a16:creationId xmlns:a16="http://schemas.microsoft.com/office/drawing/2014/main" id="{3EA6E144-BD92-9C1C-3492-FD7D91E7FE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971" y="816337"/>
            <a:ext cx="1097280" cy="1097280"/>
          </a:xfrm>
          <a:prstGeom prst="rect">
            <a:avLst/>
          </a:prstGeom>
        </p:spPr>
      </p:pic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7E770776-FE7F-8DE3-E081-38923EAED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1101" y="2054073"/>
            <a:ext cx="5930053" cy="42015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l-PL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Accuracy</a:t>
            </a:r>
            <a:r>
              <a:rPr lang="pl-PL" sz="2400" dirty="0">
                <a:latin typeface="Segoe UI" panose="020B0502040204020203" pitchFamily="34" charset="0"/>
                <a:cs typeface="Segoe UI" panose="020B0502040204020203" pitchFamily="34" charset="0"/>
              </a:rPr>
              <a:t> – ogólna skuteczność klasyfikacji</a:t>
            </a:r>
          </a:p>
          <a:p>
            <a:endParaRPr lang="pl-PL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pl-PL" sz="2400" dirty="0">
                <a:latin typeface="Segoe UI" panose="020B0502040204020203" pitchFamily="34" charset="0"/>
                <a:cs typeface="Segoe UI" panose="020B0502040204020203" pitchFamily="34" charset="0"/>
              </a:rPr>
              <a:t>Macro-F1 – średnia F1 dla każdej klasy</a:t>
            </a:r>
          </a:p>
          <a:p>
            <a:endParaRPr lang="pl-PL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l-PL" sz="2400" dirty="0">
                <a:latin typeface="Segoe UI" panose="020B0502040204020203" pitchFamily="34" charset="0"/>
                <a:cs typeface="Segoe UI" panose="020B0502040204020203" pitchFamily="34" charset="0"/>
              </a:rPr>
              <a:t>odporna na nierównowagę klas</a:t>
            </a:r>
          </a:p>
          <a:p>
            <a:endParaRPr lang="pl-PL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pl-PL" sz="2400" dirty="0">
                <a:latin typeface="Segoe UI" panose="020B0502040204020203" pitchFamily="34" charset="0"/>
                <a:cs typeface="Segoe UI" panose="020B0502040204020203" pitchFamily="34" charset="0"/>
              </a:rPr>
              <a:t>Macierze pomyłek (</a:t>
            </a:r>
            <a:r>
              <a:rPr lang="pl-PL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confusion</a:t>
            </a:r>
            <a:r>
              <a:rPr lang="pl-PL" sz="24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l-PL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matrices</a:t>
            </a:r>
            <a:r>
              <a:rPr lang="pl-PL" sz="24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</p:txBody>
      </p:sp>
      <p:pic>
        <p:nvPicPr>
          <p:cNvPr id="8" name="Grafika 7">
            <a:extLst>
              <a:ext uri="{FF2B5EF4-FFF2-40B4-BE49-F238E27FC236}">
                <a16:creationId xmlns:a16="http://schemas.microsoft.com/office/drawing/2014/main" id="{AFC14C7D-63F6-6DD0-1FA4-8FA9E4783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965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A0D9B4E-C292-45AA-8116-562703040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370" y="-84790"/>
            <a:ext cx="6489401" cy="1469965"/>
          </a:xfrm>
        </p:spPr>
        <p:txBody>
          <a:bodyPr rtlCol="0" anchor="ctr">
            <a:normAutofit/>
          </a:bodyPr>
          <a:lstStyle/>
          <a:p>
            <a:pPr rtl="0"/>
            <a:r>
              <a:rPr lang="pl-PL" b="1" dirty="0">
                <a:latin typeface="Franklin Gothic Book" panose="020B0503020102020204" pitchFamily="34" charset="0"/>
                <a:cs typeface="Segoe UI" panose="020B0502040204020203" pitchFamily="34" charset="0"/>
              </a:rPr>
              <a:t>Wyniki: porównanie modeli</a:t>
            </a:r>
          </a:p>
        </p:txBody>
      </p:sp>
      <p:pic>
        <p:nvPicPr>
          <p:cNvPr id="5" name="Grafika 4" descr="Otwarta książka">
            <a:extLst>
              <a:ext uri="{FF2B5EF4-FFF2-40B4-BE49-F238E27FC236}">
                <a16:creationId xmlns:a16="http://schemas.microsoft.com/office/drawing/2014/main" id="{DEFE964D-9F1C-4F69-ADD3-0E1AB324E1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982" y="46276"/>
            <a:ext cx="1097280" cy="1097280"/>
          </a:xfrm>
          <a:prstGeom prst="rect">
            <a:avLst/>
          </a:prstGeom>
        </p:spPr>
      </p:pic>
      <p:pic>
        <p:nvPicPr>
          <p:cNvPr id="9" name="Grafika 8">
            <a:extLst>
              <a:ext uri="{FF2B5EF4-FFF2-40B4-BE49-F238E27FC236}">
                <a16:creationId xmlns:a16="http://schemas.microsoft.com/office/drawing/2014/main" id="{35127EDA-5861-47AB-8729-620CFC7DAC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  <p:pic>
        <p:nvPicPr>
          <p:cNvPr id="6" name="Obraz 5" descr="Obraz zawierający tekst, zrzut ekranu, diagram, Prostokąt&#10;&#10;Zawartość wygenerowana przez AI może być niepoprawna.">
            <a:extLst>
              <a:ext uri="{FF2B5EF4-FFF2-40B4-BE49-F238E27FC236}">
                <a16:creationId xmlns:a16="http://schemas.microsoft.com/office/drawing/2014/main" id="{305B5649-1760-2B60-12AB-69364F8267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262" y="1009723"/>
            <a:ext cx="9144018" cy="4572009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4961C5CF-301A-5A8D-61ED-604D418DE0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8887" y="5581732"/>
            <a:ext cx="654276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l-PL" altLang="pl-P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EfficientNet-B0 wyraźnie lepszy od ShuffleNetV2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pl-PL" altLang="pl-P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Różnica ~ +24 </a:t>
            </a:r>
            <a:r>
              <a:rPr kumimoji="0" lang="pl-PL" altLang="pl-PL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pp</a:t>
            </a:r>
            <a:r>
              <a:rPr kumimoji="0" lang="pl-PL" altLang="pl-P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pl-PL" altLang="pl-PL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</a:t>
            </a:r>
            <a:endParaRPr kumimoji="0" lang="pl-PL" altLang="pl-PL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59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7E69AE-DFEC-59A5-4151-73EB68C8E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B8FC395-BA09-5DF4-E664-DA976A5C5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370" y="-84790"/>
            <a:ext cx="8390773" cy="1469965"/>
          </a:xfrm>
        </p:spPr>
        <p:txBody>
          <a:bodyPr rtlCol="0" anchor="ctr">
            <a:normAutofit/>
          </a:bodyPr>
          <a:lstStyle/>
          <a:p>
            <a:r>
              <a:rPr lang="pl-PL" b="1" dirty="0">
                <a:latin typeface="Franklin Gothic Book" panose="020B0503020102020204" pitchFamily="34" charset="0"/>
                <a:cs typeface="Segoe UI" panose="020B0502040204020203" pitchFamily="34" charset="0"/>
              </a:rPr>
              <a:t>Wyniki: </a:t>
            </a:r>
            <a:r>
              <a:rPr lang="pl-PL" b="1" dirty="0">
                <a:latin typeface="Franklin Gothic Book" panose="020B0503020102020204" pitchFamily="34" charset="0"/>
              </a:rPr>
              <a:t>wpływ liczby danych</a:t>
            </a:r>
            <a:endParaRPr lang="pl-PL" b="1" dirty="0">
              <a:latin typeface="Franklin Gothic Book" panose="020B0503020102020204" pitchFamily="34" charset="0"/>
              <a:cs typeface="Segoe UI" panose="020B0502040204020203" pitchFamily="34" charset="0"/>
            </a:endParaRPr>
          </a:p>
        </p:txBody>
      </p:sp>
      <p:pic>
        <p:nvPicPr>
          <p:cNvPr id="5" name="Grafika 4" descr="Otwarta książka">
            <a:extLst>
              <a:ext uri="{FF2B5EF4-FFF2-40B4-BE49-F238E27FC236}">
                <a16:creationId xmlns:a16="http://schemas.microsoft.com/office/drawing/2014/main" id="{A03046CC-274C-8E4D-3B7F-5FE0384363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982" y="46276"/>
            <a:ext cx="1097280" cy="1097280"/>
          </a:xfrm>
          <a:prstGeom prst="rect">
            <a:avLst/>
          </a:prstGeom>
        </p:spPr>
      </p:pic>
      <p:pic>
        <p:nvPicPr>
          <p:cNvPr id="9" name="Grafika 8">
            <a:extLst>
              <a:ext uri="{FF2B5EF4-FFF2-40B4-BE49-F238E27FC236}">
                <a16:creationId xmlns:a16="http://schemas.microsoft.com/office/drawing/2014/main" id="{2EBDB17B-3D55-ED1D-8524-3A575E017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08CD2189-B02A-2EF1-AB4B-D018E916B7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8887" y="5501289"/>
            <a:ext cx="654276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l-PL" altLang="pl-PL" sz="1800" b="1" dirty="0">
                <a:latin typeface="Arial" panose="020B0604020202020204" pitchFamily="34" charset="0"/>
              </a:rPr>
              <a:t>Im więcej danych treningowych, tym lepsze wyniki</a:t>
            </a: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l-PL" altLang="pl-PL" sz="1800" b="1" dirty="0">
              <a:latin typeface="Arial" panose="020B0604020202020204" pitchFamily="34" charset="0"/>
            </a:endParaRP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l-PL" altLang="pl-PL" sz="1800" b="1" dirty="0">
                <a:latin typeface="Arial" panose="020B0604020202020204" pitchFamily="34" charset="0"/>
              </a:rPr>
              <a:t>E4 (najmniej danych) → najniższa skuteczność</a:t>
            </a:r>
            <a:endParaRPr kumimoji="0" lang="pl-PL" altLang="pl-PL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Obraz 3" descr="Obraz zawierający tekst, zrzut ekranu, diagram, Prostokąt&#10;&#10;Zawartość wygenerowana przez AI może być niepoprawna.">
            <a:extLst>
              <a:ext uri="{FF2B5EF4-FFF2-40B4-BE49-F238E27FC236}">
                <a16:creationId xmlns:a16="http://schemas.microsoft.com/office/drawing/2014/main" id="{C4A00FC0-7FCE-3E86-898D-0D85528524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1" y="968827"/>
            <a:ext cx="9144018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651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067400-E920-7819-5905-5769D6525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3A5A0C1-B38C-1487-37B9-A66012BD3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370" y="-84790"/>
            <a:ext cx="8303687" cy="1469965"/>
          </a:xfrm>
        </p:spPr>
        <p:txBody>
          <a:bodyPr rtlCol="0" anchor="ctr">
            <a:normAutofit/>
          </a:bodyPr>
          <a:lstStyle/>
          <a:p>
            <a:r>
              <a:rPr lang="pl-PL" b="1" dirty="0">
                <a:latin typeface="Franklin Gothic Book" panose="020B0503020102020204" pitchFamily="34" charset="0"/>
              </a:rPr>
              <a:t>Wyniki: wpływ augmentacji</a:t>
            </a:r>
            <a:endParaRPr lang="pl-PL" b="1" dirty="0">
              <a:latin typeface="Franklin Gothic Book" panose="020B0503020102020204" pitchFamily="34" charset="0"/>
              <a:cs typeface="Segoe UI" panose="020B0502040204020203" pitchFamily="34" charset="0"/>
            </a:endParaRPr>
          </a:p>
        </p:txBody>
      </p:sp>
      <p:pic>
        <p:nvPicPr>
          <p:cNvPr id="5" name="Grafika 4" descr="Otwarta książka">
            <a:extLst>
              <a:ext uri="{FF2B5EF4-FFF2-40B4-BE49-F238E27FC236}">
                <a16:creationId xmlns:a16="http://schemas.microsoft.com/office/drawing/2014/main" id="{C71CB4A6-2F66-8750-9FC3-72AD6DD1D1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982" y="46276"/>
            <a:ext cx="1097280" cy="1097280"/>
          </a:xfrm>
          <a:prstGeom prst="rect">
            <a:avLst/>
          </a:prstGeom>
        </p:spPr>
      </p:pic>
      <p:pic>
        <p:nvPicPr>
          <p:cNvPr id="9" name="Grafika 8">
            <a:extLst>
              <a:ext uri="{FF2B5EF4-FFF2-40B4-BE49-F238E27FC236}">
                <a16:creationId xmlns:a16="http://schemas.microsoft.com/office/drawing/2014/main" id="{A33EE0BB-81F1-C9A8-100F-64934B707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DDED30FD-E7DF-0820-CE16-C659EE4DAC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98887" y="5501289"/>
            <a:ext cx="654276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l-PL" altLang="pl-PL" sz="1800" b="1" dirty="0">
                <a:latin typeface="Arial" panose="020B0604020202020204" pitchFamily="34" charset="0"/>
              </a:rPr>
              <a:t>A2 i A3 najlepsze</a:t>
            </a: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pl-PL" altLang="pl-PL" sz="1800" b="1" dirty="0">
              <a:latin typeface="Arial" panose="020B0604020202020204" pitchFamily="34" charset="0"/>
            </a:endParaRPr>
          </a:p>
          <a:p>
            <a:pPr marL="0" lvl="0" indent="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pl-PL" altLang="pl-PL" sz="1800" b="1" dirty="0">
                <a:latin typeface="Arial" panose="020B0604020202020204" pitchFamily="34" charset="0"/>
              </a:rPr>
              <a:t>Zbyt słaba lub zbyt agresywna augmentacja nie pomaga</a:t>
            </a:r>
            <a:endParaRPr kumimoji="0" lang="pl-PL" altLang="pl-PL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Obraz 5" descr="Obraz zawierający tekst, zrzut ekranu, diagram, Wykres&#10;&#10;Zawartość wygenerowana przez AI może być niepoprawna.">
            <a:extLst>
              <a:ext uri="{FF2B5EF4-FFF2-40B4-BE49-F238E27FC236}">
                <a16:creationId xmlns:a16="http://schemas.microsoft.com/office/drawing/2014/main" id="{51F099C1-F1FE-68DE-C20D-1BEC84CE21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1" y="929280"/>
            <a:ext cx="9144018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16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AEFD64-FC44-9053-C85D-708D51D40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16D03ED-F068-7E36-2F71-51F3715A1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370" y="-84790"/>
            <a:ext cx="8332716" cy="1469965"/>
          </a:xfrm>
        </p:spPr>
        <p:txBody>
          <a:bodyPr rtlCol="0" anchor="ctr">
            <a:normAutofit/>
          </a:bodyPr>
          <a:lstStyle/>
          <a:p>
            <a:r>
              <a:rPr lang="pl-PL" b="1" dirty="0">
                <a:latin typeface="Franklin Gothic Book" panose="020B0503020102020204" pitchFamily="34" charset="0"/>
              </a:rPr>
              <a:t>Interakcja: dane × augmentacja</a:t>
            </a:r>
            <a:endParaRPr lang="pl-PL" b="1" dirty="0">
              <a:latin typeface="Franklin Gothic Book" panose="020B0503020102020204" pitchFamily="34" charset="0"/>
              <a:cs typeface="Segoe UI" panose="020B0502040204020203" pitchFamily="34" charset="0"/>
            </a:endParaRPr>
          </a:p>
        </p:txBody>
      </p:sp>
      <p:pic>
        <p:nvPicPr>
          <p:cNvPr id="5" name="Grafika 4" descr="Otwarta książka">
            <a:extLst>
              <a:ext uri="{FF2B5EF4-FFF2-40B4-BE49-F238E27FC236}">
                <a16:creationId xmlns:a16="http://schemas.microsoft.com/office/drawing/2014/main" id="{96C5F5A8-3512-B511-7B92-AEECF30E9D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982" y="46276"/>
            <a:ext cx="1097280" cy="1097280"/>
          </a:xfrm>
          <a:prstGeom prst="rect">
            <a:avLst/>
          </a:prstGeom>
        </p:spPr>
      </p:pic>
      <p:pic>
        <p:nvPicPr>
          <p:cNvPr id="9" name="Grafika 8">
            <a:extLst>
              <a:ext uri="{FF2B5EF4-FFF2-40B4-BE49-F238E27FC236}">
                <a16:creationId xmlns:a16="http://schemas.microsoft.com/office/drawing/2014/main" id="{08F88B87-F07F-8B0C-25B3-80D37FB9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857FC22F-1DAD-23C3-009B-9414EB275C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8262" y="5414599"/>
            <a:ext cx="10284137" cy="1096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pl-PL" sz="1800" b="1" dirty="0"/>
              <a:t>Wniosek:</a:t>
            </a:r>
            <a:endParaRPr lang="pl-PL" sz="1800" dirty="0"/>
          </a:p>
          <a:p>
            <a:r>
              <a:rPr lang="pl-PL" sz="1800" dirty="0"/>
              <a:t>Augmentacja pomaga tylko wtedy, gdy jest wystarczająco dużo danych</a:t>
            </a:r>
          </a:p>
          <a:p>
            <a:r>
              <a:rPr lang="pl-PL" sz="1800" dirty="0"/>
              <a:t>Nie zastąpi braków w zbiorze treningowym</a:t>
            </a:r>
          </a:p>
        </p:txBody>
      </p:sp>
      <p:pic>
        <p:nvPicPr>
          <p:cNvPr id="4" name="Obraz 3" descr="Obraz zawierający tekst, zrzut ekranu, Wielobarwność, kwadrat&#10;&#10;Zawartość wygenerowana przez AI może być niepoprawna.">
            <a:extLst>
              <a:ext uri="{FF2B5EF4-FFF2-40B4-BE49-F238E27FC236}">
                <a16:creationId xmlns:a16="http://schemas.microsoft.com/office/drawing/2014/main" id="{0A430EF7-D747-9051-6CCC-37A96C7232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281" y="987733"/>
            <a:ext cx="6400813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63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366E95-442C-79F9-19D4-9D3C35F19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073FE68-75F7-8D3B-6D56-39E805FC5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370" y="0"/>
            <a:ext cx="10785630" cy="1843315"/>
          </a:xfrm>
        </p:spPr>
        <p:txBody>
          <a:bodyPr rtlCol="0" anchor="ctr">
            <a:normAutofit/>
          </a:bodyPr>
          <a:lstStyle/>
          <a:p>
            <a:r>
              <a:rPr lang="pl-PL" b="1" dirty="0">
                <a:latin typeface="Franklin Gothic Book" panose="020B0503020102020204" pitchFamily="34" charset="0"/>
                <a:cs typeface="Segoe UI" panose="020B0502040204020203" pitchFamily="34" charset="0"/>
              </a:rPr>
              <a:t>Najlepszy przypadek </a:t>
            </a:r>
            <a:br>
              <a:rPr lang="pl-PL" b="1" dirty="0">
                <a:latin typeface="Franklin Gothic Book" panose="020B0503020102020204" pitchFamily="34" charset="0"/>
                <a:cs typeface="Segoe UI" panose="020B0502040204020203" pitchFamily="34" charset="0"/>
              </a:rPr>
            </a:br>
            <a:r>
              <a:rPr lang="pl-PL" b="1" dirty="0" err="1">
                <a:latin typeface="Franklin Gothic Book" panose="020B0503020102020204" pitchFamily="34" charset="0"/>
              </a:rPr>
              <a:t>Confusion</a:t>
            </a:r>
            <a:r>
              <a:rPr lang="pl-PL" b="1" dirty="0">
                <a:latin typeface="Franklin Gothic Book" panose="020B0503020102020204" pitchFamily="34" charset="0"/>
              </a:rPr>
              <a:t> matrix: </a:t>
            </a:r>
            <a:r>
              <a:rPr lang="pl-PL" b="1" dirty="0" err="1">
                <a:latin typeface="Franklin Gothic Book" panose="020B0503020102020204" pitchFamily="34" charset="0"/>
              </a:rPr>
              <a:t>best</a:t>
            </a:r>
            <a:r>
              <a:rPr lang="pl-PL" b="1" dirty="0">
                <a:latin typeface="Franklin Gothic Book" panose="020B0503020102020204" pitchFamily="34" charset="0"/>
              </a:rPr>
              <a:t> </a:t>
            </a:r>
            <a:r>
              <a:rPr lang="pl-PL" b="1" dirty="0" err="1">
                <a:latin typeface="Franklin Gothic Book" panose="020B0503020102020204" pitchFamily="34" charset="0"/>
              </a:rPr>
              <a:t>accuracy</a:t>
            </a:r>
            <a:endParaRPr lang="pl-PL" b="1" dirty="0">
              <a:latin typeface="Franklin Gothic Book" panose="020B0503020102020204" pitchFamily="34" charset="0"/>
              <a:cs typeface="Segoe UI" panose="020B0502040204020203" pitchFamily="34" charset="0"/>
            </a:endParaRPr>
          </a:p>
        </p:txBody>
      </p:sp>
      <p:pic>
        <p:nvPicPr>
          <p:cNvPr id="5" name="Grafika 4" descr="Otwarta książka">
            <a:extLst>
              <a:ext uri="{FF2B5EF4-FFF2-40B4-BE49-F238E27FC236}">
                <a16:creationId xmlns:a16="http://schemas.microsoft.com/office/drawing/2014/main" id="{9DA70638-994E-D9E6-1204-157E4ECB44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982" y="46276"/>
            <a:ext cx="1097280" cy="1097280"/>
          </a:xfrm>
          <a:prstGeom prst="rect">
            <a:avLst/>
          </a:prstGeom>
        </p:spPr>
      </p:pic>
      <p:pic>
        <p:nvPicPr>
          <p:cNvPr id="9" name="Grafika 8">
            <a:extLst>
              <a:ext uri="{FF2B5EF4-FFF2-40B4-BE49-F238E27FC236}">
                <a16:creationId xmlns:a16="http://schemas.microsoft.com/office/drawing/2014/main" id="{56CC8945-1AE1-61F0-18A8-487D0EC1C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889B910B-F37D-36F7-61EC-CA0FD8AA4C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92164" y="2616709"/>
            <a:ext cx="9318171" cy="1096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l-PL" sz="1800" dirty="0"/>
              <a:t>Idealna klasyfikacja</a:t>
            </a:r>
          </a:p>
          <a:p>
            <a:r>
              <a:rPr lang="pl-PL" sz="1800" dirty="0"/>
              <a:t>Brak pomyłek między klasami</a:t>
            </a:r>
          </a:p>
          <a:p>
            <a:r>
              <a:rPr lang="pl-PL" sz="1800" b="1" dirty="0"/>
              <a:t>Uwaga:</a:t>
            </a:r>
            <a:r>
              <a:rPr lang="pl-PL" sz="1800" dirty="0"/>
              <a:t> mały zbiór testowy</a:t>
            </a:r>
          </a:p>
        </p:txBody>
      </p:sp>
      <p:pic>
        <p:nvPicPr>
          <p:cNvPr id="4" name="Obraz 3" descr="Obraz zawierający tekst, zrzut ekranu, diagram, kwadrat&#10;&#10;Zawartość wygenerowana przez AI może być niepoprawna.">
            <a:extLst>
              <a:ext uri="{FF2B5EF4-FFF2-40B4-BE49-F238E27FC236}">
                <a16:creationId xmlns:a16="http://schemas.microsoft.com/office/drawing/2014/main" id="{FA8BCBEF-6AB2-EC0D-0242-8F8278139E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622" y="1675461"/>
            <a:ext cx="5486411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300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5E9DC2-22C7-AF6E-6739-95C0A9D22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2AE7DA7-E5FF-0583-2649-87CB0CF05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370" y="0"/>
            <a:ext cx="10785630" cy="1843315"/>
          </a:xfrm>
        </p:spPr>
        <p:txBody>
          <a:bodyPr rtlCol="0" anchor="ctr">
            <a:normAutofit/>
          </a:bodyPr>
          <a:lstStyle/>
          <a:p>
            <a:r>
              <a:rPr lang="pl-PL" b="1" dirty="0">
                <a:latin typeface="Franklin Gothic Book" panose="020B0503020102020204" pitchFamily="34" charset="0"/>
                <a:cs typeface="Segoe UI" panose="020B0502040204020203" pitchFamily="34" charset="0"/>
              </a:rPr>
              <a:t>Najgorszy przypadek </a:t>
            </a:r>
            <a:br>
              <a:rPr lang="pl-PL" b="1" dirty="0">
                <a:latin typeface="Franklin Gothic Book" panose="020B0503020102020204" pitchFamily="34" charset="0"/>
                <a:cs typeface="Segoe UI" panose="020B0502040204020203" pitchFamily="34" charset="0"/>
              </a:rPr>
            </a:br>
            <a:r>
              <a:rPr lang="pl-PL" b="1" dirty="0" err="1">
                <a:latin typeface="Franklin Gothic Book" panose="020B0503020102020204" pitchFamily="34" charset="0"/>
              </a:rPr>
              <a:t>Confusion</a:t>
            </a:r>
            <a:r>
              <a:rPr lang="pl-PL" b="1" dirty="0">
                <a:latin typeface="Franklin Gothic Book" panose="020B0503020102020204" pitchFamily="34" charset="0"/>
              </a:rPr>
              <a:t> matrix: </a:t>
            </a:r>
            <a:r>
              <a:rPr lang="pl-PL" b="1" dirty="0" err="1">
                <a:latin typeface="Franklin Gothic Book" panose="020B0503020102020204" pitchFamily="34" charset="0"/>
              </a:rPr>
              <a:t>worst</a:t>
            </a:r>
            <a:r>
              <a:rPr lang="pl-PL" b="1" dirty="0">
                <a:latin typeface="Franklin Gothic Book" panose="020B0503020102020204" pitchFamily="34" charset="0"/>
              </a:rPr>
              <a:t> </a:t>
            </a:r>
            <a:r>
              <a:rPr lang="pl-PL" b="1" dirty="0" err="1">
                <a:latin typeface="Franklin Gothic Book" panose="020B0503020102020204" pitchFamily="34" charset="0"/>
              </a:rPr>
              <a:t>accuracy</a:t>
            </a:r>
            <a:endParaRPr lang="pl-PL" b="1" dirty="0">
              <a:latin typeface="Franklin Gothic Book" panose="020B0503020102020204" pitchFamily="34" charset="0"/>
              <a:cs typeface="Segoe UI" panose="020B0502040204020203" pitchFamily="34" charset="0"/>
            </a:endParaRPr>
          </a:p>
        </p:txBody>
      </p:sp>
      <p:pic>
        <p:nvPicPr>
          <p:cNvPr id="5" name="Grafika 4" descr="Otwarta książka">
            <a:extLst>
              <a:ext uri="{FF2B5EF4-FFF2-40B4-BE49-F238E27FC236}">
                <a16:creationId xmlns:a16="http://schemas.microsoft.com/office/drawing/2014/main" id="{FEBFACA8-5E82-90F1-B5DE-E1A8D39D56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982" y="46276"/>
            <a:ext cx="1097280" cy="1097280"/>
          </a:xfrm>
          <a:prstGeom prst="rect">
            <a:avLst/>
          </a:prstGeom>
        </p:spPr>
      </p:pic>
      <p:pic>
        <p:nvPicPr>
          <p:cNvPr id="9" name="Grafika 8">
            <a:extLst>
              <a:ext uri="{FF2B5EF4-FFF2-40B4-BE49-F238E27FC236}">
                <a16:creationId xmlns:a16="http://schemas.microsoft.com/office/drawing/2014/main" id="{4FC27221-4C89-C6E3-B06A-4DEDB851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AC231148-A1A0-97ED-619B-CBD16D03FE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92164" y="2805478"/>
            <a:ext cx="9318171" cy="719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pl-PL" sz="1800" dirty="0" err="1"/>
              <a:t>Collapse</a:t>
            </a:r>
            <a:r>
              <a:rPr lang="pl-PL" sz="1800" dirty="0"/>
              <a:t> predykcji do jednej klasy</a:t>
            </a:r>
          </a:p>
          <a:p>
            <a:r>
              <a:rPr lang="pl-PL" sz="1800" dirty="0"/>
              <a:t>Typowy objaw niedouczenia modelu</a:t>
            </a:r>
          </a:p>
        </p:txBody>
      </p:sp>
      <p:pic>
        <p:nvPicPr>
          <p:cNvPr id="12" name="Obraz 11" descr="Obraz zawierający tekst, zrzut ekranu, Wielobarwność, diagram&#10;&#10;Zawartość wygenerowana przez AI może być niepoprawna.">
            <a:extLst>
              <a:ext uri="{FF2B5EF4-FFF2-40B4-BE49-F238E27FC236}">
                <a16:creationId xmlns:a16="http://schemas.microsoft.com/office/drawing/2014/main" id="{E2BF4F84-8647-D399-20A2-D5C0572DCD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020" y="1656485"/>
            <a:ext cx="5486411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988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D648CF1-C72A-4313-8FC7-BF6DD4642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0543" y="241103"/>
            <a:ext cx="8448486" cy="1469965"/>
          </a:xfrm>
        </p:spPr>
        <p:txBody>
          <a:bodyPr rtlCol="0" anchor="ctr">
            <a:normAutofit/>
          </a:bodyPr>
          <a:lstStyle/>
          <a:p>
            <a:r>
              <a:rPr lang="pl-PL" b="1" dirty="0">
                <a:latin typeface="Franklin Gothic Book" panose="020B0503020102020204" pitchFamily="34" charset="0"/>
              </a:rPr>
              <a:t>Ograniczenia</a:t>
            </a:r>
            <a:r>
              <a:rPr lang="pl-PL" b="1" dirty="0"/>
              <a:t> eksperymentu</a:t>
            </a:r>
            <a:endParaRPr lang="pl-PL" b="1" dirty="0">
              <a:latin typeface="Franklin Gothic Book" panose="020B0503020102020204" pitchFamily="34" charset="0"/>
              <a:cs typeface="Segoe UI" panose="020B0502040204020203" pitchFamily="34" charset="0"/>
            </a:endParaRPr>
          </a:p>
        </p:txBody>
      </p:sp>
      <p:pic>
        <p:nvPicPr>
          <p:cNvPr id="4" name="Grafika 3" descr="Tablica">
            <a:extLst>
              <a:ext uri="{FF2B5EF4-FFF2-40B4-BE49-F238E27FC236}">
                <a16:creationId xmlns:a16="http://schemas.microsoft.com/office/drawing/2014/main" id="{A4298283-DDB8-4365-95A1-90935E16BE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242" y="427446"/>
            <a:ext cx="1097280" cy="1097280"/>
          </a:xfrm>
          <a:prstGeom prst="rect">
            <a:avLst/>
          </a:prstGeom>
        </p:spPr>
      </p:pic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C856D755-2374-40B4-B692-603C5E927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2934" y="1711068"/>
            <a:ext cx="5962782" cy="30207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Mały zbiór testowy (20 obrazów)</a:t>
            </a:r>
          </a:p>
          <a:p>
            <a:endParaRPr lang="pl-PL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Duża wariancja wyników</a:t>
            </a:r>
          </a:p>
          <a:p>
            <a:endParaRPr lang="pl-PL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Brak walidacji krzyżowej</a:t>
            </a:r>
          </a:p>
        </p:txBody>
      </p:sp>
      <p:pic>
        <p:nvPicPr>
          <p:cNvPr id="8" name="Grafika 7">
            <a:extLst>
              <a:ext uri="{FF2B5EF4-FFF2-40B4-BE49-F238E27FC236}">
                <a16:creationId xmlns:a16="http://schemas.microsoft.com/office/drawing/2014/main" id="{B6C7BDF7-D7AC-4209-A6A9-11B953F88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892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897443-3070-D6EA-74C4-647E53F1E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1D80814-31C3-7783-DBF3-18493EC5B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0543" y="241103"/>
            <a:ext cx="8448486" cy="1469965"/>
          </a:xfrm>
        </p:spPr>
        <p:txBody>
          <a:bodyPr rtlCol="0" anchor="ctr">
            <a:normAutofit/>
          </a:bodyPr>
          <a:lstStyle/>
          <a:p>
            <a:r>
              <a:rPr lang="pl-PL" b="1" dirty="0">
                <a:latin typeface="Franklin Gothic Book" panose="020B0503020102020204" pitchFamily="34" charset="0"/>
              </a:rPr>
              <a:t>Wnioski końcowe</a:t>
            </a:r>
            <a:endParaRPr lang="pl-PL" b="1" dirty="0">
              <a:latin typeface="Franklin Gothic Book" panose="020B0503020102020204" pitchFamily="34" charset="0"/>
              <a:cs typeface="Segoe UI" panose="020B0502040204020203" pitchFamily="34" charset="0"/>
            </a:endParaRPr>
          </a:p>
        </p:txBody>
      </p:sp>
      <p:pic>
        <p:nvPicPr>
          <p:cNvPr id="4" name="Grafika 3" descr="Tablica">
            <a:extLst>
              <a:ext uri="{FF2B5EF4-FFF2-40B4-BE49-F238E27FC236}">
                <a16:creationId xmlns:a16="http://schemas.microsoft.com/office/drawing/2014/main" id="{771A2D4E-D283-2C11-0C3F-90D7C1A146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242" y="427446"/>
            <a:ext cx="1097280" cy="1097280"/>
          </a:xfrm>
          <a:prstGeom prst="rect">
            <a:avLst/>
          </a:prstGeom>
        </p:spPr>
      </p:pic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C605E50A-B5F6-8FDC-B9E9-555CEEBD9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596" y="1918643"/>
            <a:ext cx="5962782" cy="3020713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EfficientNet-B0 przewyższa ShuffleNetV2</a:t>
            </a:r>
          </a:p>
          <a:p>
            <a:endParaRPr lang="pl-PL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Liczba danych ma kluczowe znaczenie</a:t>
            </a:r>
          </a:p>
          <a:p>
            <a:endParaRPr lang="pl-PL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Augmentacja pomaga, ale nie zawsze</a:t>
            </a:r>
          </a:p>
          <a:p>
            <a:endParaRPr lang="pl-PL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l-PL" dirty="0">
                <a:latin typeface="Segoe UI" panose="020B0502040204020203" pitchFamily="34" charset="0"/>
                <a:cs typeface="Segoe UI" panose="020B0502040204020203" pitchFamily="34" charset="0"/>
              </a:rPr>
              <a:t>Małe zbiory prowadzą do niestabilnych wyników</a:t>
            </a:r>
          </a:p>
        </p:txBody>
      </p:sp>
      <p:pic>
        <p:nvPicPr>
          <p:cNvPr id="8" name="Grafika 7">
            <a:extLst>
              <a:ext uri="{FF2B5EF4-FFF2-40B4-BE49-F238E27FC236}">
                <a16:creationId xmlns:a16="http://schemas.microsoft.com/office/drawing/2014/main" id="{304EF140-5037-1FFB-07F9-6C9136686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448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98F6D58-1A39-41ED-99F7-0CE9F03BD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641" y="81353"/>
            <a:ext cx="6944843" cy="1469965"/>
          </a:xfrm>
        </p:spPr>
        <p:txBody>
          <a:bodyPr rtlCol="0" anchor="ctr">
            <a:normAutofit/>
          </a:bodyPr>
          <a:lstStyle/>
          <a:p>
            <a:r>
              <a:rPr lang="pl-PL" b="1" dirty="0">
                <a:latin typeface="Franklin Gothic Book" panose="020B0503020102020204" pitchFamily="34" charset="0"/>
              </a:rPr>
              <a:t>Możliwe rozszerzenia</a:t>
            </a:r>
            <a:endParaRPr lang="pl-PL" b="1" dirty="0">
              <a:latin typeface="Franklin Gothic Book" panose="020B0503020102020204" pitchFamily="34" charset="0"/>
              <a:cs typeface="Segoe UI" panose="020B0502040204020203" pitchFamily="34" charset="0"/>
            </a:endParaRPr>
          </a:p>
        </p:txBody>
      </p:sp>
      <p:pic>
        <p:nvPicPr>
          <p:cNvPr id="4" name="Grafika 3" descr="Czat">
            <a:extLst>
              <a:ext uri="{FF2B5EF4-FFF2-40B4-BE49-F238E27FC236}">
                <a16:creationId xmlns:a16="http://schemas.microsoft.com/office/drawing/2014/main" id="{AEE98CC8-0F49-4433-9FD0-35E20C04B5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242" y="267697"/>
            <a:ext cx="1097280" cy="1097280"/>
          </a:xfrm>
          <a:prstGeom prst="rect">
            <a:avLst/>
          </a:prstGeom>
        </p:spPr>
      </p:pic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3BF933A4-33C5-4102-BBB0-9B15EFF2F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4298" y="1595495"/>
            <a:ext cx="7830214" cy="37553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2400" dirty="0">
                <a:latin typeface="Segoe UI" panose="020B0502040204020203" pitchFamily="34" charset="0"/>
                <a:cs typeface="Segoe UI" panose="020B0502040204020203" pitchFamily="34" charset="0"/>
              </a:rPr>
              <a:t>większy zbiór testowy</a:t>
            </a:r>
          </a:p>
          <a:p>
            <a:endParaRPr lang="pl-PL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l-PL" sz="2400" dirty="0">
                <a:latin typeface="Segoe UI" panose="020B0502040204020203" pitchFamily="34" charset="0"/>
                <a:cs typeface="Segoe UI" panose="020B0502040204020203" pitchFamily="34" charset="0"/>
              </a:rPr>
              <a:t>walidacja krzyżowa</a:t>
            </a:r>
          </a:p>
          <a:p>
            <a:endParaRPr lang="pl-PL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l-PL" sz="2400" dirty="0">
                <a:latin typeface="Segoe UI" panose="020B0502040204020203" pitchFamily="34" charset="0"/>
                <a:cs typeface="Segoe UI" panose="020B0502040204020203" pitchFamily="34" charset="0"/>
              </a:rPr>
              <a:t>fine-</a:t>
            </a:r>
            <a:r>
              <a:rPr lang="pl-PL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tuning</a:t>
            </a:r>
            <a:r>
              <a:rPr lang="pl-PL" sz="2400" dirty="0">
                <a:latin typeface="Segoe UI" panose="020B0502040204020203" pitchFamily="34" charset="0"/>
                <a:cs typeface="Segoe UI" panose="020B0502040204020203" pitchFamily="34" charset="0"/>
              </a:rPr>
              <a:t> większych modeli</a:t>
            </a:r>
          </a:p>
          <a:p>
            <a:endParaRPr lang="pl-PL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l-PL" sz="2400" dirty="0">
                <a:latin typeface="Segoe UI" panose="020B0502040204020203" pitchFamily="34" charset="0"/>
                <a:cs typeface="Segoe UI" panose="020B0502040204020203" pitchFamily="34" charset="0"/>
              </a:rPr>
              <a:t>analiza błędów per klasa</a:t>
            </a:r>
            <a:endParaRPr lang="pl-PL" sz="2400" dirty="0">
              <a:latin typeface="Franklin Gothic Book" panose="020B0503020102020204" pitchFamily="34" charset="0"/>
            </a:endParaRPr>
          </a:p>
        </p:txBody>
      </p:sp>
      <p:pic>
        <p:nvPicPr>
          <p:cNvPr id="8" name="Grafika 7">
            <a:extLst>
              <a:ext uri="{FF2B5EF4-FFF2-40B4-BE49-F238E27FC236}">
                <a16:creationId xmlns:a16="http://schemas.microsoft.com/office/drawing/2014/main" id="{590430A8-7125-464C-98BA-3409573D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41431" y="816337"/>
            <a:ext cx="5225327" cy="522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909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a 10" descr="Książki na półce">
            <a:extLst>
              <a:ext uri="{FF2B5EF4-FFF2-40B4-BE49-F238E27FC236}">
                <a16:creationId xmlns:a16="http://schemas.microsoft.com/office/drawing/2014/main" id="{18A239E6-97C0-4A74-8E7A-C9FD39A8C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041" y="982364"/>
            <a:ext cx="2659472" cy="2659472"/>
          </a:xfrm>
          <a:prstGeom prst="rect">
            <a:avLst/>
          </a:prstGeom>
        </p:spPr>
      </p:pic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DFDA47BC-3069-47F5-8257-24B3B1F76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2927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a 4" descr="Czat">
            <a:extLst>
              <a:ext uri="{FF2B5EF4-FFF2-40B4-BE49-F238E27FC236}">
                <a16:creationId xmlns:a16="http://schemas.microsoft.com/office/drawing/2014/main" id="{EB71843F-0A0B-4317-B205-4B0A0B97C0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90143" y="983211"/>
            <a:ext cx="2646677" cy="2646677"/>
          </a:xfrm>
          <a:prstGeom prst="rect">
            <a:avLst/>
          </a:prstGeom>
        </p:spPr>
      </p:pic>
      <p:cxnSp>
        <p:nvCxnSpPr>
          <p:cNvPr id="20" name="Łącznik prosty 19">
            <a:extLst>
              <a:ext uri="{FF2B5EF4-FFF2-40B4-BE49-F238E27FC236}">
                <a16:creationId xmlns:a16="http://schemas.microsoft.com/office/drawing/2014/main" id="{942B920A-73AD-402A-8EEF-B88E1A939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768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a 6" descr="Ramka tablicy">
            <a:extLst>
              <a:ext uri="{FF2B5EF4-FFF2-40B4-BE49-F238E27FC236}">
                <a16:creationId xmlns:a16="http://schemas.microsoft.com/office/drawing/2014/main" id="{2696A1A4-8E43-47F6-A6DC-A9ADAB053D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56859" y="982364"/>
            <a:ext cx="2648371" cy="2648371"/>
          </a:xfrm>
          <a:prstGeom prst="rect">
            <a:avLst/>
          </a:prstGeom>
        </p:spPr>
      </p:pic>
      <p:cxnSp>
        <p:nvCxnSpPr>
          <p:cNvPr id="22" name="Łącznik prosty 21">
            <a:extLst>
              <a:ext uri="{FF2B5EF4-FFF2-40B4-BE49-F238E27FC236}">
                <a16:creationId xmlns:a16="http://schemas.microsoft.com/office/drawing/2014/main" id="{00C9EB70-BC82-414A-BF8D-AD7FC6727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66096" y="477749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a 8" descr="Otwarta książka">
            <a:extLst>
              <a:ext uri="{FF2B5EF4-FFF2-40B4-BE49-F238E27FC236}">
                <a16:creationId xmlns:a16="http://schemas.microsoft.com/office/drawing/2014/main" id="{93E427C7-0218-4592-82DA-2431E4BF875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25269" y="1004677"/>
            <a:ext cx="2648372" cy="2648372"/>
          </a:xfrm>
          <a:prstGeom prst="rect">
            <a:avLst/>
          </a:prstGeom>
        </p:spPr>
      </p:pic>
      <p:sp>
        <p:nvSpPr>
          <p:cNvPr id="18" name="Prostokąt 17">
            <a:extLst>
              <a:ext uri="{FF2B5EF4-FFF2-40B4-BE49-F238E27FC236}">
                <a16:creationId xmlns:a16="http://schemas.microsoft.com/office/drawing/2014/main" id="{7AE95D8F-9825-4222-8846-E3461598C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463354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561AC0E-7195-4ACF-AA0A-5E2923A98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139" y="4714136"/>
            <a:ext cx="11139854" cy="930447"/>
          </a:xfrm>
        </p:spPr>
        <p:txBody>
          <a:bodyPr rtlCol="0">
            <a:normAutofit/>
          </a:bodyPr>
          <a:lstStyle/>
          <a:p>
            <a:pPr rtl="0"/>
            <a:r>
              <a:rPr lang="pl-PL" sz="5400" dirty="0">
                <a:solidFill>
                  <a:srgbClr val="FFFFFF"/>
                </a:solidFill>
                <a:latin typeface="Franklin Gothic Book" panose="020B0503020102020204" pitchFamily="34" charset="0"/>
                <a:cs typeface="Segoe UI" panose="020B0502040204020203" pitchFamily="34" charset="0"/>
              </a:rPr>
              <a:t>Koniec</a:t>
            </a:r>
          </a:p>
        </p:txBody>
      </p:sp>
      <p:cxnSp>
        <p:nvCxnSpPr>
          <p:cNvPr id="24" name="Łącznik prosty 23">
            <a:extLst>
              <a:ext uri="{FF2B5EF4-FFF2-40B4-BE49-F238E27FC236}">
                <a16:creationId xmlns:a16="http://schemas.microsoft.com/office/drawing/2014/main" id="{3217665F-0036-444A-8D4A-33AF36A36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573869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odtytuł 2">
            <a:extLst>
              <a:ext uri="{FF2B5EF4-FFF2-40B4-BE49-F238E27FC236}">
                <a16:creationId xmlns:a16="http://schemas.microsoft.com/office/drawing/2014/main" id="{814253EE-4FA2-4843-BE27-C7D5B08FF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9362" y="5815698"/>
            <a:ext cx="9144000" cy="420001"/>
          </a:xfrm>
        </p:spPr>
        <p:txBody>
          <a:bodyPr rtlCol="0">
            <a:normAutofit/>
          </a:bodyPr>
          <a:lstStyle/>
          <a:p>
            <a:pPr rtl="0"/>
            <a:r>
              <a:rPr lang="pl-PL" sz="2000" dirty="0">
                <a:solidFill>
                  <a:srgbClr val="E7E6E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Bartosz Orliński</a:t>
            </a:r>
          </a:p>
        </p:txBody>
      </p:sp>
    </p:spTree>
    <p:extLst>
      <p:ext uri="{BB962C8B-B14F-4D97-AF65-F5344CB8AC3E}">
        <p14:creationId xmlns:p14="http://schemas.microsoft.com/office/powerpoint/2010/main" val="2372968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8488_TF44781794_Win32" id="{2442D4A0-ACDA-4B3B-A0CC-57A139C13DB5}" vid="{72A8CFE0-F72D-4D55-AD2E-5953077E8150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Prezentacja badawcza</Template>
  <TotalTime>49</TotalTime>
  <Words>388</Words>
  <Application>Microsoft Office PowerPoint</Application>
  <PresentationFormat>Panoramiczny</PresentationFormat>
  <Paragraphs>132</Paragraphs>
  <Slides>17</Slides>
  <Notes>17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Franklin Gothic Book</vt:lpstr>
      <vt:lpstr>Segoe UI</vt:lpstr>
      <vt:lpstr>Motyw pakietu Office</vt:lpstr>
      <vt:lpstr>Porównanie skuteczności lekkich sieci CNN w zadaniu klasyfikacji obrazów</vt:lpstr>
      <vt:lpstr>Cel eksperymentu</vt:lpstr>
      <vt:lpstr>Dane:</vt:lpstr>
      <vt:lpstr>Augmentacje</vt:lpstr>
      <vt:lpstr>Modele</vt:lpstr>
      <vt:lpstr>Konfiguracja treningu</vt:lpstr>
      <vt:lpstr>Metryki</vt:lpstr>
      <vt:lpstr>Wyniki: porównanie modeli</vt:lpstr>
      <vt:lpstr>Wyniki: wpływ liczby danych</vt:lpstr>
      <vt:lpstr>Wyniki: wpływ augmentacji</vt:lpstr>
      <vt:lpstr>Interakcja: dane × augmentacja</vt:lpstr>
      <vt:lpstr>Najlepszy przypadek  Confusion matrix: best accuracy</vt:lpstr>
      <vt:lpstr>Najgorszy przypadek  Confusion matrix: worst accuracy</vt:lpstr>
      <vt:lpstr>Ograniczenia eksperymentu</vt:lpstr>
      <vt:lpstr>Wnioski końcowe</vt:lpstr>
      <vt:lpstr>Możliwe rozszerzenia</vt:lpstr>
      <vt:lpstr>Koniec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Orliński</dc:creator>
  <cp:lastModifiedBy>Bartosz Orliński</cp:lastModifiedBy>
  <cp:revision>1</cp:revision>
  <dcterms:created xsi:type="dcterms:W3CDTF">2026-02-07T19:21:58Z</dcterms:created>
  <dcterms:modified xsi:type="dcterms:W3CDTF">2026-02-07T20:11:30Z</dcterms:modified>
</cp:coreProperties>
</file>